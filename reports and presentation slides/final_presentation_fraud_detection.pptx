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7"/>
  </p:notesMasterIdLst>
  <p:handoutMasterIdLst>
    <p:handoutMasterId r:id="rId48"/>
  </p:handoutMasterIdLst>
  <p:sldIdLst>
    <p:sldId id="264" r:id="rId5"/>
    <p:sldId id="413" r:id="rId6"/>
    <p:sldId id="440" r:id="rId7"/>
    <p:sldId id="441" r:id="rId8"/>
    <p:sldId id="466" r:id="rId9"/>
    <p:sldId id="465" r:id="rId10"/>
    <p:sldId id="448" r:id="rId11"/>
    <p:sldId id="484" r:id="rId12"/>
    <p:sldId id="485" r:id="rId13"/>
    <p:sldId id="487" r:id="rId14"/>
    <p:sldId id="486" r:id="rId15"/>
    <p:sldId id="489" r:id="rId16"/>
    <p:sldId id="491" r:id="rId17"/>
    <p:sldId id="492" r:id="rId18"/>
    <p:sldId id="518" r:id="rId19"/>
    <p:sldId id="490" r:id="rId20"/>
    <p:sldId id="483" r:id="rId21"/>
    <p:sldId id="493" r:id="rId22"/>
    <p:sldId id="496" r:id="rId23"/>
    <p:sldId id="482" r:id="rId24"/>
    <p:sldId id="497" r:id="rId25"/>
    <p:sldId id="500" r:id="rId26"/>
    <p:sldId id="499" r:id="rId27"/>
    <p:sldId id="501" r:id="rId28"/>
    <p:sldId id="502" r:id="rId29"/>
    <p:sldId id="503" r:id="rId30"/>
    <p:sldId id="504" r:id="rId31"/>
    <p:sldId id="508" r:id="rId32"/>
    <p:sldId id="505" r:id="rId33"/>
    <p:sldId id="506" r:id="rId34"/>
    <p:sldId id="498" r:id="rId35"/>
    <p:sldId id="509" r:id="rId36"/>
    <p:sldId id="510" r:id="rId37"/>
    <p:sldId id="507" r:id="rId38"/>
    <p:sldId id="511" r:id="rId39"/>
    <p:sldId id="513" r:id="rId40"/>
    <p:sldId id="515" r:id="rId41"/>
    <p:sldId id="517" r:id="rId42"/>
    <p:sldId id="516" r:id="rId43"/>
    <p:sldId id="464" r:id="rId44"/>
    <p:sldId id="434" r:id="rId45"/>
    <p:sldId id="512" r:id="rId46"/>
  </p:sldIdLst>
  <p:sldSz cx="10799763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2E"/>
    <a:srgbClr val="FB0000"/>
    <a:srgbClr val="D47D26"/>
    <a:srgbClr val="FF6600"/>
    <a:srgbClr val="FF9900"/>
    <a:srgbClr val="CCFFFF"/>
    <a:srgbClr val="66FFFF"/>
    <a:srgbClr val="FFFF66"/>
    <a:srgbClr val="FFFF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6236" autoAdjust="0"/>
  </p:normalViewPr>
  <p:slideViewPr>
    <p:cSldViewPr>
      <p:cViewPr varScale="1">
        <p:scale>
          <a:sx n="103" d="100"/>
          <a:sy n="103" d="100"/>
        </p:scale>
        <p:origin x="624" y="64"/>
      </p:cViewPr>
      <p:guideLst>
        <p:guide orient="horz" pos="2160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328"/>
    </p:cViewPr>
  </p:sorterViewPr>
  <p:notesViewPr>
    <p:cSldViewPr>
      <p:cViewPr varScale="1">
        <p:scale>
          <a:sx n="55" d="100"/>
          <a:sy n="55" d="100"/>
        </p:scale>
        <p:origin x="288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Value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>
              <a:softEdge rad="12700"/>
            </a:effectLst>
          </c:spPr>
          <c:marker>
            <c:symbol val="circle"/>
            <c:size val="5"/>
            <c:spPr>
              <a:solidFill>
                <a:schemeClr val="accent1"/>
              </a:solidFill>
              <a:ln w="38100">
                <a:solidFill>
                  <a:schemeClr val="tx1"/>
                </a:solidFill>
              </a:ln>
              <a:effectLst>
                <a:softEdge rad="12700"/>
              </a:effectLst>
            </c:spPr>
          </c:marker>
          <c:dPt>
            <c:idx val="2"/>
            <c:marker>
              <c:symbol val="x"/>
              <c:size val="14"/>
              <c:spPr>
                <a:noFill/>
                <a:ln w="53975">
                  <a:solidFill>
                    <a:schemeClr val="tx1"/>
                  </a:solidFill>
                </a:ln>
                <a:effectLst>
                  <a:softEdge rad="12700"/>
                </a:effectLst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64EE-4B13-A138-581E979F72BF}"/>
              </c:ext>
            </c:extLst>
          </c:dPt>
          <c:xVal>
            <c:numRef>
              <c:f>Sheet1!$A$2:$A$4</c:f>
              <c:numCache>
                <c:formatCode>General</c:formatCode>
                <c:ptCount val="3"/>
                <c:pt idx="0">
                  <c:v>22</c:v>
                </c:pt>
                <c:pt idx="1">
                  <c:v>24</c:v>
                </c:pt>
                <c:pt idx="2">
                  <c:v>23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200</c:v>
                </c:pt>
                <c:pt idx="2">
                  <c:v>190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4EE-4B13-A138-581E979F72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5702047"/>
        <c:axId val="1645699647"/>
      </c:scatterChart>
      <c:valAx>
        <c:axId val="16457020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Age</a:t>
                </a:r>
                <a:endParaRPr lang="en-IN" sz="1600" b="1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699647"/>
        <c:crosses val="autoZero"/>
        <c:crossBetween val="midCat"/>
      </c:valAx>
      <c:valAx>
        <c:axId val="1645699647"/>
        <c:scaling>
          <c:orientation val="minMax"/>
          <c:max val="220"/>
          <c:min val="15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Purchase</a:t>
                </a:r>
                <a:r>
                  <a:rPr lang="en-US" sz="1600" b="1" baseline="0" dirty="0">
                    <a:solidFill>
                      <a:schemeClr val="tx1"/>
                    </a:solidFill>
                  </a:rPr>
                  <a:t> Value</a:t>
                </a:r>
                <a:endParaRPr lang="en-IN" sz="1600" b="1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0204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19E7B17-C078-4C50-9935-3DE50FC9DB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063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0250" y="685800"/>
            <a:ext cx="53975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5E4430F-96D5-4F5E-AF15-BF5EB88FA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023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685800"/>
            <a:ext cx="53975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49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3294-ED72-79D5-D58B-2BDF2961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1DABC-8843-D0A9-19AF-EBD3F1D8A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9549D-ABD5-C3C1-E78D-2C61B792A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386E7-27F8-3974-4055-E36F3E83B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50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N_estimators</a:t>
            </a:r>
            <a:r>
              <a:rPr lang="en-IN" dirty="0"/>
              <a:t> – number of trees </a:t>
            </a:r>
          </a:p>
          <a:p>
            <a:r>
              <a:rPr lang="en-IN" dirty="0"/>
              <a:t>Subsample - % of training data used per tree</a:t>
            </a:r>
          </a:p>
          <a:p>
            <a:r>
              <a:rPr lang="en-IN" dirty="0" err="1"/>
              <a:t>Colsample_bytree</a:t>
            </a:r>
            <a:r>
              <a:rPr lang="en-IN" dirty="0"/>
              <a:t> - % of features used per tree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05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60A9D-343A-5E82-DC2B-51E56987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A8A05-5026-DF31-7852-F7C1CBD6D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F8B35-E037-35EF-2782-58542FA9E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N_estimators</a:t>
            </a:r>
            <a:r>
              <a:rPr lang="en-IN" dirty="0"/>
              <a:t> – number of trees </a:t>
            </a:r>
          </a:p>
          <a:p>
            <a:r>
              <a:rPr lang="en-IN" dirty="0"/>
              <a:t>Subsample - % of training data used per tree</a:t>
            </a:r>
          </a:p>
          <a:p>
            <a:r>
              <a:rPr lang="en-IN" dirty="0" err="1"/>
              <a:t>Colsample_bytree</a:t>
            </a:r>
            <a:r>
              <a:rPr lang="en-IN" dirty="0"/>
              <a:t> - % of features used per tree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6A298-C6A7-62C5-D9BE-6CD9810FE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46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648B-589A-4E46-E965-68CBCCAC2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C6252-19FF-2F31-44B3-2E8300314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3DA7C-DEE1-0EF3-FC22-20DD8541A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AE01D-2C9D-A8B5-CB2C-CAECBEEDF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74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3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130426"/>
            <a:ext cx="9179799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5" y="3886200"/>
            <a:ext cx="755983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7" y="4406901"/>
            <a:ext cx="9179799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7" y="2906713"/>
            <a:ext cx="9179799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8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0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535113"/>
            <a:ext cx="477177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88" y="2174875"/>
            <a:ext cx="477177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0" y="1535113"/>
            <a:ext cx="477364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0" y="2174875"/>
            <a:ext cx="477364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-719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 - MANIPAL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Page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7" name="Picture 6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99AC11E8-FD3B-40F3-B55A-C0B10FA721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374"/>
            <a:ext cx="2609943" cy="7728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9" y="273050"/>
            <a:ext cx="355304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7" y="273051"/>
            <a:ext cx="603736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89" y="1435101"/>
            <a:ext cx="355304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1" name="Picture 10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EA04BEC8-6F6B-40C9-A38F-02E85B06B9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6543635"/>
            <a:ext cx="10799763" cy="314365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29" y="4800600"/>
            <a:ext cx="6479858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29" y="612775"/>
            <a:ext cx="6479858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29" y="5367338"/>
            <a:ext cx="6479858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2" name="Picture 11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10F9D83D-ED4F-4F68-91DF-27D7E1A5F0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0" name="Picture 9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3D44CB01-1FE1-4FBB-9269-80BD254564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8" y="274639"/>
            <a:ext cx="2429947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274639"/>
            <a:ext cx="7109844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0" name="Picture 9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03228479-1D6A-4559-AB1D-0A9FDB4EE8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17-11-2025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9" name="Picture 8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3550F69F-9161-4E22-9322-2C0D25799A0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374"/>
            <a:ext cx="2609943" cy="7728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haasd/M.E-Computer-Science-Engineering/commits/main/Mini-Projects/Fraud%20Detection%20using%20Machine%20Learning/Fraud_Detection" TargetMode="External"/><Relationship Id="rId2" Type="http://schemas.openxmlformats.org/officeDocument/2006/relationships/hyperlink" Target="https://github.com/suhaasd/M.E-Computer-Science-Engineering/tree/main/Mini-Projects/Fraud%20Detection%20using%20Machine%20Learning/Fraud_Detection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4"/>
          <p:cNvSpPr txBox="1">
            <a:spLocks noChangeArrowheads="1"/>
          </p:cNvSpPr>
          <p:nvPr/>
        </p:nvSpPr>
        <p:spPr bwMode="auto">
          <a:xfrm>
            <a:off x="2504281" y="176213"/>
            <a:ext cx="7315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209978"/>
              </p:ext>
            </p:extLst>
          </p:nvPr>
        </p:nvGraphicFramePr>
        <p:xfrm>
          <a:off x="1151409" y="1484784"/>
          <a:ext cx="8534400" cy="4176464"/>
        </p:xfrm>
        <a:graphic>
          <a:graphicData uri="http://schemas.openxmlformats.org/drawingml/2006/table">
            <a:tbl>
              <a:tblPr/>
              <a:tblGrid>
                <a:gridCol w="2539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8464">
                  <a:extLst>
                    <a:ext uri="{9D8B030D-6E8A-4147-A177-3AD203B41FA5}">
                      <a16:colId xmlns:a16="http://schemas.microsoft.com/office/drawing/2014/main" val="2788499379"/>
                    </a:ext>
                  </a:extLst>
                </a:gridCol>
                <a:gridCol w="1998464">
                  <a:extLst>
                    <a:ext uri="{9D8B030D-6E8A-4147-A177-3AD203B41FA5}">
                      <a16:colId xmlns:a16="http://schemas.microsoft.com/office/drawing/2014/main" val="2004038616"/>
                    </a:ext>
                  </a:extLst>
                </a:gridCol>
              </a:tblGrid>
              <a:tr h="15121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Name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Gayana KO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Siddharth AK</a:t>
                      </a:r>
                    </a:p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Suhaas 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Registration Numbers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251100610004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251100610010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251100610033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Branch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CSE-5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81560"/>
                  </a:ext>
                </a:extLst>
              </a:tr>
              <a:tr h="113553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Project</a:t>
                      </a:r>
                      <a:r>
                        <a:rPr lang="en-US" sz="1800" b="0" i="0" baseline="0" dirty="0">
                          <a:effectLst/>
                          <a:latin typeface="Times New Roman"/>
                        </a:rPr>
                        <a:t> Title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Fraud Detection Using Machine Leaning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64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Guide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</a:t>
                      </a: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Keerthana Prasad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8064177" y="188640"/>
            <a:ext cx="241865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337" y="980728"/>
            <a:ext cx="8839200" cy="46536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Literature Review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Objective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Flow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Future work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References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60121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87B90-23F6-4416-A139-0D1D53F1CBCB}"/>
              </a:ext>
            </a:extLst>
          </p:cNvPr>
          <p:cNvSpPr txBox="1"/>
          <p:nvPr/>
        </p:nvSpPr>
        <p:spPr>
          <a:xfrm>
            <a:off x="791369" y="980728"/>
            <a:ext cx="9433048" cy="51153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digitalisation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increased online transactions.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this growth, financial fraud has become a major concern.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ensures security, trust, and the prevention of financial loss.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detect suspicious patterns automatically and efficiently.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39E72-6107-6F76-8FE9-62E17A60C0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553" y="3068960"/>
            <a:ext cx="4618031" cy="314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4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2F8710-5FC7-4A18-750F-15AE6E69C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0970"/>
              </p:ext>
            </p:extLst>
          </p:nvPr>
        </p:nvGraphicFramePr>
        <p:xfrm>
          <a:off x="1799960" y="1029052"/>
          <a:ext cx="7199844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99961">
                  <a:extLst>
                    <a:ext uri="{9D8B030D-6E8A-4147-A177-3AD203B41FA5}">
                      <a16:colId xmlns:a16="http://schemas.microsoft.com/office/drawing/2014/main" val="949166406"/>
                    </a:ext>
                  </a:extLst>
                </a:gridCol>
                <a:gridCol w="1799961">
                  <a:extLst>
                    <a:ext uri="{9D8B030D-6E8A-4147-A177-3AD203B41FA5}">
                      <a16:colId xmlns:a16="http://schemas.microsoft.com/office/drawing/2014/main" val="2886905611"/>
                    </a:ext>
                  </a:extLst>
                </a:gridCol>
                <a:gridCol w="1799961">
                  <a:extLst>
                    <a:ext uri="{9D8B030D-6E8A-4147-A177-3AD203B41FA5}">
                      <a16:colId xmlns:a16="http://schemas.microsoft.com/office/drawing/2014/main" val="54957850"/>
                    </a:ext>
                  </a:extLst>
                </a:gridCol>
                <a:gridCol w="1799961">
                  <a:extLst>
                    <a:ext uri="{9D8B030D-6E8A-4147-A177-3AD203B41FA5}">
                      <a16:colId xmlns:a16="http://schemas.microsoft.com/office/drawing/2014/main" val="1045761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087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926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954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02057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6F92E8A-675C-2DA1-251F-11CF41652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333674"/>
              </p:ext>
            </p:extLst>
          </p:nvPr>
        </p:nvGraphicFramePr>
        <p:xfrm>
          <a:off x="71289" y="836712"/>
          <a:ext cx="10585176" cy="54689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6294">
                  <a:extLst>
                    <a:ext uri="{9D8B030D-6E8A-4147-A177-3AD203B41FA5}">
                      <a16:colId xmlns:a16="http://schemas.microsoft.com/office/drawing/2014/main" val="2884782715"/>
                    </a:ext>
                  </a:extLst>
                </a:gridCol>
                <a:gridCol w="2646294">
                  <a:extLst>
                    <a:ext uri="{9D8B030D-6E8A-4147-A177-3AD203B41FA5}">
                      <a16:colId xmlns:a16="http://schemas.microsoft.com/office/drawing/2014/main" val="1796904295"/>
                    </a:ext>
                  </a:extLst>
                </a:gridCol>
                <a:gridCol w="2646294">
                  <a:extLst>
                    <a:ext uri="{9D8B030D-6E8A-4147-A177-3AD203B41FA5}">
                      <a16:colId xmlns:a16="http://schemas.microsoft.com/office/drawing/2014/main" val="3316119536"/>
                    </a:ext>
                  </a:extLst>
                </a:gridCol>
                <a:gridCol w="2646294">
                  <a:extLst>
                    <a:ext uri="{9D8B030D-6E8A-4147-A177-3AD203B41FA5}">
                      <a16:colId xmlns:a16="http://schemas.microsoft.com/office/drawing/2014/main" val="858232650"/>
                    </a:ext>
                  </a:extLst>
                </a:gridCol>
              </a:tblGrid>
              <a:tr h="4093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and Title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of Study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73348"/>
                  </a:ext>
                </a:extLst>
              </a:tr>
              <a:tr h="500608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Aman Negi, Deepak Kumar. "Fraud Detection in Financial Transactions Using Machine Learning Techniques“(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1985–2003)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Anonymized financial transaction dataset; public and proprietary sources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Evaluate machine learning models (Random Forest, XGBoost) for financial fraud detection and address data imbalance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 outperformed others (accuracy: 97.3%, F1-score: 0.95); Feature selection and SMOTE improved results; Ensemble models best for real-time detection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486497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Petr Hajek, Mohammad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Zoynul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Abedin,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Uthayasankar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Sivarajah. "Fraud Detection in Mobile Payment Systems using an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-based Framework“ (2024)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PaySim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(simulated mobile transaction data, 6M+ entries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 an XGBoost framework for mobile payment fraud detection, addressing class imbalance and financial impact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Semi-supervised XGBoost integrating outlier detection and under-sampling achieved best results and highest cost savings; Outperformed traditional ML methods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620164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 Nagarajan, Kamali B. "Fraud Detection in Online Transaction using Hybrid CNN and XGBOOST“ (2025)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Kaggle credit card fraud dataset (24,000 transactions, 30 features)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Compare Hybrid CNN-SVM and XGBoost for online transaction fraud detection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CNN-SVM outperformed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 reliability, F1-score, AUC; Effective feature extraction with CNN; Model suitable for imbalanced data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10244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Hongwei Chen, Lun Chen. "An application of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algorithm for online transaction fraud detection based on improved sailfish optimizer</a:t>
                      </a:r>
                      <a:r>
                        <a:rPr lang="en-IN" sz="1400" b="0" i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“ (2025)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Kaggle credit card fraud dataset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Improve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using Improved Sailfish Optimizer (ISFO) for hyperparameter tuning in online fraud detection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SFO-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achieved top accuracy  and metrics, beating other models; SMOTE improved results.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965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60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48153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5AF100-A3A8-5B64-59C8-98F24C6376C3}"/>
              </a:ext>
            </a:extLst>
          </p:cNvPr>
          <p:cNvSpPr txBox="1"/>
          <p:nvPr/>
        </p:nvSpPr>
        <p:spPr>
          <a:xfrm>
            <a:off x="287313" y="1052736"/>
            <a:ext cx="9937104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efficient fraud detection model using supervised ML algorithms.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fraudulent transactions based on transaction features.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high accuracy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false positives.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model performance using standard metrics (Accuracy, Precision, Recall, F1-score).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0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4F019-708A-454D-8724-F3011E518121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71531F-F716-AF44-8557-C8225F40BE34}"/>
              </a:ext>
            </a:extLst>
          </p:cNvPr>
          <p:cNvSpPr txBox="1"/>
          <p:nvPr/>
        </p:nvSpPr>
        <p:spPr>
          <a:xfrm>
            <a:off x="215305" y="980728"/>
            <a:ext cx="101531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Steps: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Use publicly available Credit Card Fraud dataset.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 Handle missing values,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Choose important features contributing to fraud detection.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 Apply algorithms like Logistic Regression, Decision Tree, and Random Forest.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 Compare models based on performance metrics.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Analysis: Select the best-performing algorithm.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B49689-67C2-3D8E-5328-7D5ACE210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641" y="3068960"/>
            <a:ext cx="704664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9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5428798" y="188640"/>
            <a:ext cx="4818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184714-773C-15F1-A74C-535BBDD16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425055"/>
              </p:ext>
            </p:extLst>
          </p:nvPr>
        </p:nvGraphicFramePr>
        <p:xfrm>
          <a:off x="742950" y="980728"/>
          <a:ext cx="9313862" cy="3657600"/>
        </p:xfrm>
        <a:graphic>
          <a:graphicData uri="http://schemas.openxmlformats.org/drawingml/2006/table">
            <a:tbl>
              <a:tblPr/>
              <a:tblGrid>
                <a:gridCol w="4656931">
                  <a:extLst>
                    <a:ext uri="{9D8B030D-6E8A-4147-A177-3AD203B41FA5}">
                      <a16:colId xmlns:a16="http://schemas.microsoft.com/office/drawing/2014/main" val="1586627091"/>
                    </a:ext>
                  </a:extLst>
                </a:gridCol>
                <a:gridCol w="4656931">
                  <a:extLst>
                    <a:ext uri="{9D8B030D-6E8A-4147-A177-3AD203B41FA5}">
                      <a16:colId xmlns:a16="http://schemas.microsoft.com/office/drawing/2014/main" val="29497009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35786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dataset 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49296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cleaning, feature selection, model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1964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– Fraudulent or Legitimate transaction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3521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and low error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94007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NumPy, Pandas, Scikit-learn, Matplotlib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2880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Used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PC/Laptop with Python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01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23738-E5FA-9156-9C27-4505143F7DDF}"/>
              </a:ext>
            </a:extLst>
          </p:cNvPr>
          <p:cNvSpPr txBox="1"/>
          <p:nvPr/>
        </p:nvSpPr>
        <p:spPr>
          <a:xfrm>
            <a:off x="143297" y="836712"/>
            <a:ext cx="105851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DATASETS</a:t>
            </a:r>
          </a:p>
          <a:p>
            <a:endParaRPr lang="en-US" dirty="0"/>
          </a:p>
          <a:p>
            <a:r>
              <a:rPr lang="en-US" b="1" dirty="0"/>
              <a:t>Fraud_Data.csv </a:t>
            </a:r>
            <a:r>
              <a:rPr lang="en-US" dirty="0"/>
              <a:t>- The main file containing transaction and user details.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Rows : </a:t>
            </a:r>
            <a:r>
              <a:rPr lang="en-US" b="1" dirty="0"/>
              <a:t>151,112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: </a:t>
            </a:r>
            <a:r>
              <a:rPr lang="en-US" b="1" dirty="0"/>
              <a:t>11</a:t>
            </a:r>
          </a:p>
          <a:p>
            <a:endParaRPr lang="en-US" dirty="0"/>
          </a:p>
          <a:p>
            <a:r>
              <a:rPr lang="en-US" dirty="0"/>
              <a:t>Features: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 Info</a:t>
            </a:r>
            <a:r>
              <a:rPr lang="en-US" dirty="0"/>
              <a:t>: </a:t>
            </a:r>
            <a:r>
              <a:rPr lang="en-US" dirty="0" err="1"/>
              <a:t>user_id</a:t>
            </a:r>
            <a:r>
              <a:rPr lang="en-US" dirty="0"/>
              <a:t>, sex,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Session Info</a:t>
            </a:r>
            <a:r>
              <a:rPr lang="en-US" dirty="0"/>
              <a:t>: </a:t>
            </a:r>
            <a:r>
              <a:rPr lang="en-US" dirty="0" err="1"/>
              <a:t>device_id</a:t>
            </a:r>
            <a:r>
              <a:rPr lang="en-US" dirty="0"/>
              <a:t>, source (e.g., SEO, Ads), browser (e.g., Chrome, Safari)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Time Info</a:t>
            </a:r>
            <a:r>
              <a:rPr lang="en-US" dirty="0"/>
              <a:t>: </a:t>
            </a:r>
            <a:r>
              <a:rPr lang="en-US" dirty="0" err="1"/>
              <a:t>signup_time</a:t>
            </a:r>
            <a:r>
              <a:rPr lang="en-US" dirty="0"/>
              <a:t>, </a:t>
            </a:r>
            <a:r>
              <a:rPr lang="en-US" dirty="0" err="1"/>
              <a:t>purchase_time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Transaction Info</a:t>
            </a:r>
            <a:r>
              <a:rPr lang="en-US" dirty="0"/>
              <a:t>: </a:t>
            </a:r>
            <a:r>
              <a:rPr lang="en-US" dirty="0" err="1"/>
              <a:t>purchase_value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Linking Key</a:t>
            </a:r>
            <a:r>
              <a:rPr lang="en-US" dirty="0"/>
              <a:t>: </a:t>
            </a:r>
            <a:r>
              <a:rPr lang="en-US" dirty="0" err="1"/>
              <a:t>ip_address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 Variable</a:t>
            </a:r>
            <a:r>
              <a:rPr lang="en-US" dirty="0"/>
              <a:t>: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18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D79BD-9B2D-A2E7-8A0E-77A62E4C4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8B104E-6782-B869-1C9B-04BFE0C5C329}"/>
              </a:ext>
            </a:extLst>
          </p:cNvPr>
          <p:cNvSpPr txBox="1"/>
          <p:nvPr/>
        </p:nvSpPr>
        <p:spPr>
          <a:xfrm>
            <a:off x="35644" y="1556792"/>
            <a:ext cx="107284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IpAddress_to_Country.csv </a:t>
            </a:r>
            <a:r>
              <a:rPr lang="en-US" dirty="0"/>
              <a:t>– IP Address lookup table for the main dataset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Rows : </a:t>
            </a:r>
            <a:r>
              <a:rPr lang="en-US" b="1" dirty="0"/>
              <a:t>138,846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: </a:t>
            </a:r>
            <a:r>
              <a:rPr lang="en-US" b="1" dirty="0"/>
              <a:t>3</a:t>
            </a:r>
          </a:p>
          <a:p>
            <a:endParaRPr lang="en-US" dirty="0"/>
          </a:p>
          <a:p>
            <a:r>
              <a:rPr lang="en-US" dirty="0"/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lower_bound_ip_address</a:t>
            </a:r>
            <a:r>
              <a:rPr lang="en-US" b="1" dirty="0"/>
              <a:t>: </a:t>
            </a:r>
            <a:r>
              <a:rPr lang="en-US" dirty="0"/>
              <a:t>The starting IP address of a geographical block.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upper_bound_ip_address</a:t>
            </a:r>
            <a:r>
              <a:rPr lang="en-US" b="1" dirty="0"/>
              <a:t>: </a:t>
            </a:r>
            <a:r>
              <a:rPr lang="en-US" dirty="0"/>
              <a:t>The ending IP address of that same geographical block.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country: </a:t>
            </a:r>
            <a:r>
              <a:rPr lang="en-US" dirty="0"/>
              <a:t>The country associated with all IPs within that specific range.</a:t>
            </a:r>
          </a:p>
        </p:txBody>
      </p:sp>
    </p:spTree>
    <p:extLst>
      <p:ext uri="{BB962C8B-B14F-4D97-AF65-F5344CB8AC3E}">
        <p14:creationId xmlns:p14="http://schemas.microsoft.com/office/powerpoint/2010/main" val="354284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74FF-4A25-528F-46A1-8075E2DB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1BE5C2-B1FA-0CAD-035F-2C98851C27CD}"/>
              </a:ext>
            </a:extLst>
          </p:cNvPr>
          <p:cNvSpPr txBox="1"/>
          <p:nvPr/>
        </p:nvSpPr>
        <p:spPr>
          <a:xfrm>
            <a:off x="143297" y="836712"/>
            <a:ext cx="1058517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Final_Data.csv </a:t>
            </a:r>
            <a:r>
              <a:rPr lang="en-US" dirty="0"/>
              <a:t>- The master dataset created by merging fraud_data.csv and ipAddress_to_country.csv lookup 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Rows : </a:t>
            </a:r>
            <a:r>
              <a:rPr lang="en-US" b="1" dirty="0"/>
              <a:t>129,146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: </a:t>
            </a:r>
            <a:r>
              <a:rPr lang="en-US" b="1" dirty="0"/>
              <a:t>14</a:t>
            </a:r>
          </a:p>
          <a:p>
            <a:endParaRPr lang="en-US" dirty="0"/>
          </a:p>
          <a:p>
            <a:r>
              <a:rPr lang="en-US" dirty="0"/>
              <a:t>Features: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Account: </a:t>
            </a:r>
            <a:r>
              <a:rPr lang="en-US" dirty="0" err="1"/>
              <a:t>user_id</a:t>
            </a:r>
            <a:r>
              <a:rPr lang="en-US" dirty="0"/>
              <a:t>, </a:t>
            </a:r>
            <a:r>
              <a:rPr lang="en-US" dirty="0" err="1"/>
              <a:t>device_id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Temporal: </a:t>
            </a:r>
            <a:r>
              <a:rPr lang="en-US" dirty="0" err="1"/>
              <a:t>signup_time</a:t>
            </a:r>
            <a:r>
              <a:rPr lang="en-US" dirty="0"/>
              <a:t>, </a:t>
            </a:r>
            <a:r>
              <a:rPr lang="en-US" dirty="0" err="1"/>
              <a:t>purchase_time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Transaction: </a:t>
            </a:r>
            <a:r>
              <a:rPr lang="en-US" dirty="0" err="1"/>
              <a:t>purchase_value</a:t>
            </a:r>
            <a:r>
              <a:rPr lang="en-US" dirty="0"/>
              <a:t>, source, browser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Demographics: sex, 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Network: </a:t>
            </a:r>
            <a:r>
              <a:rPr lang="en-US" dirty="0" err="1"/>
              <a:t>ip_address</a:t>
            </a:r>
            <a:r>
              <a:rPr lang="en-US" dirty="0"/>
              <a:t>, </a:t>
            </a:r>
            <a:r>
              <a:rPr lang="en-US" b="1" dirty="0" err="1">
                <a:solidFill>
                  <a:srgbClr val="FF0000"/>
                </a:solidFill>
              </a:rPr>
              <a:t>lower_bound_ipaddress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upperbound_ipaddress</a:t>
            </a:r>
            <a:r>
              <a:rPr lang="en-US" b="1" dirty="0">
                <a:solidFill>
                  <a:srgbClr val="FF0000"/>
                </a:solidFill>
              </a:rPr>
              <a:t>, 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Target: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09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6A46-85E7-1350-4E43-95AE7FB0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1C5AA8-B80C-23C6-8500-6F2E3DF1502C}"/>
              </a:ext>
            </a:extLst>
          </p:cNvPr>
          <p:cNvSpPr txBox="1"/>
          <p:nvPr/>
        </p:nvSpPr>
        <p:spPr>
          <a:xfrm>
            <a:off x="0" y="836712"/>
            <a:ext cx="1072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ACCURACY PARADOX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2E896-E7C2-355E-4F14-D30B50B300DA}"/>
              </a:ext>
            </a:extLst>
          </p:cNvPr>
          <p:cNvSpPr txBox="1"/>
          <p:nvPr/>
        </p:nvSpPr>
        <p:spPr>
          <a:xfrm>
            <a:off x="128718" y="1844824"/>
            <a:ext cx="1065646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Imbalanced dataset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Fraud – </a:t>
            </a:r>
            <a:r>
              <a:rPr lang="en-US" b="1" dirty="0"/>
              <a:t>9.5%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 = </a:t>
            </a:r>
            <a:r>
              <a:rPr lang="en-US" b="1" dirty="0"/>
              <a:t>90.5%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Dummy Classifier – A simple model that follows pre-defined rules. </a:t>
            </a:r>
          </a:p>
          <a:p>
            <a:endParaRPr lang="en-US" dirty="0"/>
          </a:p>
          <a:p>
            <a:r>
              <a:rPr lang="en-US" dirty="0"/>
              <a:t>Accuracy – </a:t>
            </a:r>
            <a:r>
              <a:rPr lang="en-US" b="1" dirty="0"/>
              <a:t>90.5%  </a:t>
            </a:r>
          </a:p>
          <a:p>
            <a:endParaRPr lang="en-US" dirty="0"/>
          </a:p>
          <a:p>
            <a:endParaRPr lang="en-IN" dirty="0"/>
          </a:p>
          <a:p>
            <a:r>
              <a:rPr lang="en-IN" dirty="0"/>
              <a:t>Better metrics to look at instead – Precision and Recall</a:t>
            </a:r>
          </a:p>
        </p:txBody>
      </p:sp>
    </p:spTree>
    <p:extLst>
      <p:ext uri="{BB962C8B-B14F-4D97-AF65-F5344CB8AC3E}">
        <p14:creationId xmlns:p14="http://schemas.microsoft.com/office/powerpoint/2010/main" val="207183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C5F3F-0526-1D1A-5242-E2F57B3A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24DCE2-7377-3A48-7391-4BC1DA026947}"/>
              </a:ext>
            </a:extLst>
          </p:cNvPr>
          <p:cNvSpPr txBox="1"/>
          <p:nvPr/>
        </p:nvSpPr>
        <p:spPr>
          <a:xfrm>
            <a:off x="0" y="836712"/>
            <a:ext cx="1072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075D0-5EBA-93E0-EE8F-EF10B2A412D7}"/>
              </a:ext>
            </a:extLst>
          </p:cNvPr>
          <p:cNvSpPr txBox="1"/>
          <p:nvPr/>
        </p:nvSpPr>
        <p:spPr>
          <a:xfrm>
            <a:off x="56711" y="1475492"/>
            <a:ext cx="1065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Geographical Mapping – Mapping IP Address to a country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C879F-2E01-38BE-B593-39EF3A147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1" r="-1231" b="39644"/>
          <a:stretch>
            <a:fillRect/>
          </a:stretch>
        </p:blipFill>
        <p:spPr>
          <a:xfrm>
            <a:off x="2663577" y="2060847"/>
            <a:ext cx="4752528" cy="3794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17155C-3DD7-C50D-91CA-0B6961C411D7}"/>
              </a:ext>
            </a:extLst>
          </p:cNvPr>
          <p:cNvSpPr txBox="1"/>
          <p:nvPr/>
        </p:nvSpPr>
        <p:spPr>
          <a:xfrm>
            <a:off x="2585154" y="5985440"/>
            <a:ext cx="10656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IP Address column from the main transactional dataset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3967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30E64-59DA-1C09-5C3A-77F7291D8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66294F-25B8-D0D0-55EA-3499AD47618C}"/>
              </a:ext>
            </a:extLst>
          </p:cNvPr>
          <p:cNvSpPr txBox="1"/>
          <p:nvPr/>
        </p:nvSpPr>
        <p:spPr>
          <a:xfrm>
            <a:off x="0" y="836712"/>
            <a:ext cx="1072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05BA1-775F-A91C-6AC7-CEB600541BB9}"/>
              </a:ext>
            </a:extLst>
          </p:cNvPr>
          <p:cNvSpPr txBox="1"/>
          <p:nvPr/>
        </p:nvSpPr>
        <p:spPr>
          <a:xfrm>
            <a:off x="1943497" y="6021288"/>
            <a:ext cx="10656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Lower Bound, Upper bound IP address, and country columns in IP lookup table</a:t>
            </a:r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B3A140-8E52-E4CA-356D-F4A443C4D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585" y="1340768"/>
            <a:ext cx="4790763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84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41730-130C-7220-CA91-6B601D420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911980-690E-78E1-CD9E-D9B54A0BB1B8}"/>
              </a:ext>
            </a:extLst>
          </p:cNvPr>
          <p:cNvSpPr txBox="1"/>
          <p:nvPr/>
        </p:nvSpPr>
        <p:spPr>
          <a:xfrm>
            <a:off x="0" y="836712"/>
            <a:ext cx="1072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95FA0-632D-BFB3-DBE3-C1865171F285}"/>
              </a:ext>
            </a:extLst>
          </p:cNvPr>
          <p:cNvSpPr txBox="1"/>
          <p:nvPr/>
        </p:nvSpPr>
        <p:spPr>
          <a:xfrm>
            <a:off x="71648" y="1351801"/>
            <a:ext cx="10656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pandas.merge_asof</a:t>
            </a:r>
            <a:endParaRPr lang="en-IN" dirty="0"/>
          </a:p>
          <a:p>
            <a:endParaRPr lang="en-IN" dirty="0"/>
          </a:p>
          <a:p>
            <a:r>
              <a:rPr lang="en-IN" b="1" dirty="0" err="1"/>
              <a:t>Lower_bound_ipaddress</a:t>
            </a:r>
            <a:r>
              <a:rPr lang="en-IN" b="1" dirty="0"/>
              <a:t>&lt;= </a:t>
            </a:r>
            <a:r>
              <a:rPr lang="en-IN" b="1" dirty="0" err="1"/>
              <a:t>IP_Address</a:t>
            </a:r>
            <a:r>
              <a:rPr lang="en-IN" b="1" dirty="0"/>
              <a:t> &lt;=</a:t>
            </a:r>
            <a:r>
              <a:rPr lang="en-IN" b="1" dirty="0" err="1"/>
              <a:t>Upper_bound_ipaddress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3C6806-BC05-8EC8-527C-3D03EB7E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45" y="2414798"/>
            <a:ext cx="4662020" cy="3986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AE2046-C910-A0FE-EB73-D29F1547DE49}"/>
              </a:ext>
            </a:extLst>
          </p:cNvPr>
          <p:cNvSpPr txBox="1"/>
          <p:nvPr/>
        </p:nvSpPr>
        <p:spPr>
          <a:xfrm>
            <a:off x="6119961" y="6093296"/>
            <a:ext cx="4248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Combined dataset with geographical mapping 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89294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88AC5-462C-6BE2-B812-F351C5FF4A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21" t="1350"/>
          <a:stretch>
            <a:fillRect/>
          </a:stretch>
        </p:blipFill>
        <p:spPr>
          <a:xfrm>
            <a:off x="287313" y="1052736"/>
            <a:ext cx="5040560" cy="526230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81A842-0372-2E5C-EB94-4758538D2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097975"/>
              </p:ext>
            </p:extLst>
          </p:nvPr>
        </p:nvGraphicFramePr>
        <p:xfrm>
          <a:off x="6263977" y="2132856"/>
          <a:ext cx="388843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86194611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1842177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Country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Fraud Rate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037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United States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9.56%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824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China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8.66%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507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Japan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9.78%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846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United Kingdom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10.62%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60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Korea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9.13%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5064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3AFC35-E04D-0F41-8FDD-DFDAD1070CCC}"/>
              </a:ext>
            </a:extLst>
          </p:cNvPr>
          <p:cNvSpPr txBox="1"/>
          <p:nvPr/>
        </p:nvSpPr>
        <p:spPr>
          <a:xfrm>
            <a:off x="6705217" y="4581128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Country wise fraud patterns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5030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87ED-BAF1-5687-5393-5FCDAE3A9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25CD27-7E07-082F-8D0D-C5DA13C48A16}"/>
              </a:ext>
            </a:extLst>
          </p:cNvPr>
          <p:cNvSpPr txBox="1"/>
          <p:nvPr/>
        </p:nvSpPr>
        <p:spPr>
          <a:xfrm>
            <a:off x="0" y="836712"/>
            <a:ext cx="1072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C8B9A-65CC-191B-FA67-F937FEC08C0E}"/>
              </a:ext>
            </a:extLst>
          </p:cNvPr>
          <p:cNvSpPr txBox="1"/>
          <p:nvPr/>
        </p:nvSpPr>
        <p:spPr>
          <a:xfrm>
            <a:off x="27950" y="1402653"/>
            <a:ext cx="106564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Temporal features</a:t>
            </a:r>
          </a:p>
          <a:p>
            <a:endParaRPr lang="en-US" dirty="0"/>
          </a:p>
          <a:p>
            <a:r>
              <a:rPr lang="en-US" dirty="0"/>
              <a:t>Time Difference = Purchase Time – Sign Up Time </a:t>
            </a:r>
          </a:p>
          <a:p>
            <a:endParaRPr lang="en-US" dirty="0"/>
          </a:p>
          <a:p>
            <a:r>
              <a:rPr lang="en-US" b="1" dirty="0"/>
              <a:t>Automated Bot Activity</a:t>
            </a:r>
            <a:r>
              <a:rPr lang="en-US" dirty="0"/>
              <a:t> – Fraudulent transactions often occur significantly faster than legitimate ones.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A9FB9-BE75-B91F-CFE3-8461CE4F70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1" t="8842" r="9533"/>
          <a:stretch>
            <a:fillRect/>
          </a:stretch>
        </p:blipFill>
        <p:spPr>
          <a:xfrm>
            <a:off x="287313" y="3260901"/>
            <a:ext cx="4608512" cy="22269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D12347-9E24-4690-CD98-DBC2DABB4DE1}"/>
              </a:ext>
            </a:extLst>
          </p:cNvPr>
          <p:cNvSpPr txBox="1"/>
          <p:nvPr/>
        </p:nvSpPr>
        <p:spPr>
          <a:xfrm>
            <a:off x="6563390" y="5762545"/>
            <a:ext cx="38180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Distribution of Fraud in 	        User Behavioral Timing Analysis</a:t>
            </a:r>
            <a:endParaRPr lang="en-IN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283ABB-C96A-76A6-A7E0-B618D8D63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913" y="3260901"/>
            <a:ext cx="4688353" cy="222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04AD2B-738E-967E-C624-8055BE77F1B1}"/>
              </a:ext>
            </a:extLst>
          </p:cNvPr>
          <p:cNvSpPr txBox="1"/>
          <p:nvPr/>
        </p:nvSpPr>
        <p:spPr>
          <a:xfrm>
            <a:off x="727745" y="5885656"/>
            <a:ext cx="38180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User Behavioural Timing Analysis</a:t>
            </a:r>
          </a:p>
        </p:txBody>
      </p:sp>
    </p:spTree>
    <p:extLst>
      <p:ext uri="{BB962C8B-B14F-4D97-AF65-F5344CB8AC3E}">
        <p14:creationId xmlns:p14="http://schemas.microsoft.com/office/powerpoint/2010/main" val="309815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AC178093-8E94-C30D-8DA5-67DFFEF52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927" y="836712"/>
            <a:ext cx="7626848" cy="57201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C92D3B-44B4-486E-E796-AB9C7DE627CE}"/>
              </a:ext>
            </a:extLst>
          </p:cNvPr>
          <p:cNvSpPr txBox="1"/>
          <p:nvPr/>
        </p:nvSpPr>
        <p:spPr>
          <a:xfrm>
            <a:off x="1871489" y="6093296"/>
            <a:ext cx="7302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Hourly Fraud Probability Distribution – Linear Time Representation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13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500539A-3080-D2F9-5BD8-D929A4D06ADA}"/>
              </a:ext>
            </a:extLst>
          </p:cNvPr>
          <p:cNvSpPr/>
          <p:nvPr/>
        </p:nvSpPr>
        <p:spPr>
          <a:xfrm>
            <a:off x="4967833" y="832143"/>
            <a:ext cx="1368152" cy="93029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Hour &lt;= 12</a:t>
            </a:r>
            <a:endParaRPr lang="en-IN" sz="16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1951DA-23FA-AA47-F745-249D43CA3F12}"/>
              </a:ext>
            </a:extLst>
          </p:cNvPr>
          <p:cNvCxnSpPr>
            <a:cxnSpLocks/>
            <a:stCxn id="2" idx="4"/>
            <a:endCxn id="11" idx="0"/>
          </p:cNvCxnSpPr>
          <p:nvPr/>
        </p:nvCxnSpPr>
        <p:spPr>
          <a:xfrm flipH="1">
            <a:off x="3093835" y="1762433"/>
            <a:ext cx="2558074" cy="5973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00A51D-36B7-5C47-F059-8AA9510CDE91}"/>
              </a:ext>
            </a:extLst>
          </p:cNvPr>
          <p:cNvCxnSpPr>
            <a:cxnSpLocks/>
            <a:stCxn id="2" idx="4"/>
            <a:endCxn id="32" idx="0"/>
          </p:cNvCxnSpPr>
          <p:nvPr/>
        </p:nvCxnSpPr>
        <p:spPr>
          <a:xfrm>
            <a:off x="5651909" y="1762433"/>
            <a:ext cx="2363808" cy="5973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CBF9BE4-AC61-04BD-32DD-9DA53E5A8C4A}"/>
              </a:ext>
            </a:extLst>
          </p:cNvPr>
          <p:cNvSpPr/>
          <p:nvPr/>
        </p:nvSpPr>
        <p:spPr>
          <a:xfrm>
            <a:off x="2422215" y="2359753"/>
            <a:ext cx="1343240" cy="9786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Hour &lt;= 2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9EB536-DBBC-0200-F55C-BBADC59D23D3}"/>
              </a:ext>
            </a:extLst>
          </p:cNvPr>
          <p:cNvSpPr txBox="1"/>
          <p:nvPr/>
        </p:nvSpPr>
        <p:spPr>
          <a:xfrm>
            <a:off x="3947394" y="1691761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FD11E9-8D8B-D774-1F53-FA8614313602}"/>
              </a:ext>
            </a:extLst>
          </p:cNvPr>
          <p:cNvSpPr txBox="1"/>
          <p:nvPr/>
        </p:nvSpPr>
        <p:spPr>
          <a:xfrm>
            <a:off x="6984989" y="169176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B694B2-E76E-378E-21D5-22D710BE6D37}"/>
              </a:ext>
            </a:extLst>
          </p:cNvPr>
          <p:cNvCxnSpPr>
            <a:cxnSpLocks/>
            <a:stCxn id="11" idx="4"/>
            <a:endCxn id="20" idx="0"/>
          </p:cNvCxnSpPr>
          <p:nvPr/>
        </p:nvCxnSpPr>
        <p:spPr>
          <a:xfrm flipH="1">
            <a:off x="1607005" y="3338414"/>
            <a:ext cx="1486830" cy="6666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6E7A77-D3AF-DF92-FC06-5F6884683D87}"/>
              </a:ext>
            </a:extLst>
          </p:cNvPr>
          <p:cNvCxnSpPr>
            <a:cxnSpLocks/>
            <a:stCxn id="11" idx="4"/>
            <a:endCxn id="26" idx="0"/>
          </p:cNvCxnSpPr>
          <p:nvPr/>
        </p:nvCxnSpPr>
        <p:spPr>
          <a:xfrm>
            <a:off x="3093835" y="3338414"/>
            <a:ext cx="1362133" cy="6520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39DAF04-43A2-9297-4535-03FF86D9010A}"/>
              </a:ext>
            </a:extLst>
          </p:cNvPr>
          <p:cNvSpPr/>
          <p:nvPr/>
        </p:nvSpPr>
        <p:spPr>
          <a:xfrm>
            <a:off x="935385" y="4005064"/>
            <a:ext cx="1343240" cy="9786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12am – 2am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( 0 – 2)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9951B4-C5AA-D07E-3C33-A82DFAD649A0}"/>
              </a:ext>
            </a:extLst>
          </p:cNvPr>
          <p:cNvSpPr txBox="1"/>
          <p:nvPr/>
        </p:nvSpPr>
        <p:spPr>
          <a:xfrm>
            <a:off x="1671118" y="3349016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EA1178-95E1-FBB7-07C4-F6DB20F448C0}"/>
              </a:ext>
            </a:extLst>
          </p:cNvPr>
          <p:cNvSpPr txBox="1"/>
          <p:nvPr/>
        </p:nvSpPr>
        <p:spPr>
          <a:xfrm>
            <a:off x="898679" y="4993442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Most likely </a:t>
            </a:r>
          </a:p>
          <a:p>
            <a:pPr algn="ctr"/>
            <a:r>
              <a:rPr lang="en-US" dirty="0"/>
              <a:t>fraud</a:t>
            </a:r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F003652-3944-6319-F124-00167006F6E4}"/>
              </a:ext>
            </a:extLst>
          </p:cNvPr>
          <p:cNvSpPr/>
          <p:nvPr/>
        </p:nvSpPr>
        <p:spPr>
          <a:xfrm>
            <a:off x="3784348" y="3990483"/>
            <a:ext cx="1343240" cy="9786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2:01am – 11:59am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35DA60-4FD8-3137-8EC4-6422919AF135}"/>
              </a:ext>
            </a:extLst>
          </p:cNvPr>
          <p:cNvSpPr txBox="1"/>
          <p:nvPr/>
        </p:nvSpPr>
        <p:spPr>
          <a:xfrm>
            <a:off x="3913184" y="333841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FAD44D-B720-2FC8-749B-E00A61F9BC54}"/>
              </a:ext>
            </a:extLst>
          </p:cNvPr>
          <p:cNvSpPr txBox="1"/>
          <p:nvPr/>
        </p:nvSpPr>
        <p:spPr>
          <a:xfrm>
            <a:off x="3942001" y="4983725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fraud</a:t>
            </a:r>
          </a:p>
          <a:p>
            <a:pPr algn="ctr"/>
            <a:r>
              <a:rPr lang="en-US" dirty="0"/>
              <a:t>risk</a:t>
            </a:r>
            <a:endParaRPr lang="en-IN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843E444-40F7-428A-B418-6C165D70D4F7}"/>
              </a:ext>
            </a:extLst>
          </p:cNvPr>
          <p:cNvSpPr/>
          <p:nvPr/>
        </p:nvSpPr>
        <p:spPr>
          <a:xfrm>
            <a:off x="7344097" y="2359753"/>
            <a:ext cx="1343240" cy="9786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Hour &lt; 22</a:t>
            </a:r>
            <a:endParaRPr lang="en-IN" sz="16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20BE2AD-DABC-5E43-2283-E5B6EC54755D}"/>
              </a:ext>
            </a:extLst>
          </p:cNvPr>
          <p:cNvCxnSpPr>
            <a:cxnSpLocks/>
            <a:stCxn id="32" idx="4"/>
            <a:endCxn id="54" idx="0"/>
          </p:cNvCxnSpPr>
          <p:nvPr/>
        </p:nvCxnSpPr>
        <p:spPr>
          <a:xfrm flipH="1">
            <a:off x="6470828" y="3338414"/>
            <a:ext cx="1544889" cy="6520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49C0D8D7-FF6F-7C8C-E096-1C33565B4A4C}"/>
              </a:ext>
            </a:extLst>
          </p:cNvPr>
          <p:cNvSpPr/>
          <p:nvPr/>
        </p:nvSpPr>
        <p:spPr>
          <a:xfrm>
            <a:off x="5799208" y="3990484"/>
            <a:ext cx="1343240" cy="9786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12pm – 9:59 pm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(12-21)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08B8FE-040D-7142-9F6E-46D74D003381}"/>
              </a:ext>
            </a:extLst>
          </p:cNvPr>
          <p:cNvSpPr txBox="1"/>
          <p:nvPr/>
        </p:nvSpPr>
        <p:spPr>
          <a:xfrm>
            <a:off x="6704463" y="3351095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FCBEBD-6174-99F7-23C2-0F3D7DC3D7BA}"/>
              </a:ext>
            </a:extLst>
          </p:cNvPr>
          <p:cNvSpPr txBox="1"/>
          <p:nvPr/>
        </p:nvSpPr>
        <p:spPr>
          <a:xfrm>
            <a:off x="5863329" y="5027992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fraud</a:t>
            </a:r>
          </a:p>
          <a:p>
            <a:pPr algn="ctr"/>
            <a:r>
              <a:rPr lang="en-US" dirty="0"/>
              <a:t>risk</a:t>
            </a:r>
            <a:endParaRPr lang="en-IN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BE6C344-C036-BC0C-BB2E-50190A8A4878}"/>
              </a:ext>
            </a:extLst>
          </p:cNvPr>
          <p:cNvCxnSpPr>
            <a:cxnSpLocks/>
            <a:stCxn id="32" idx="4"/>
            <a:endCxn id="60" idx="0"/>
          </p:cNvCxnSpPr>
          <p:nvPr/>
        </p:nvCxnSpPr>
        <p:spPr>
          <a:xfrm>
            <a:off x="8015717" y="3338414"/>
            <a:ext cx="1475845" cy="6537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F763E03C-6E26-B5BB-D6BE-89AB0134852F}"/>
              </a:ext>
            </a:extLst>
          </p:cNvPr>
          <p:cNvSpPr/>
          <p:nvPr/>
        </p:nvSpPr>
        <p:spPr>
          <a:xfrm>
            <a:off x="8758707" y="3992155"/>
            <a:ext cx="1465710" cy="1035837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10pm – 11:59pm</a:t>
            </a:r>
            <a:br>
              <a:rPr lang="en-US" sz="1400" b="1" dirty="0">
                <a:solidFill>
                  <a:srgbClr val="FF0000"/>
                </a:solidFill>
              </a:rPr>
            </a:br>
            <a:r>
              <a:rPr lang="en-US" sz="1400" b="1" dirty="0">
                <a:solidFill>
                  <a:srgbClr val="FF0000"/>
                </a:solidFill>
              </a:rPr>
              <a:t>(22-23:59)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C11B73-BF51-30B1-364A-9AE005B4C8E5}"/>
              </a:ext>
            </a:extLst>
          </p:cNvPr>
          <p:cNvSpPr txBox="1"/>
          <p:nvPr/>
        </p:nvSpPr>
        <p:spPr>
          <a:xfrm>
            <a:off x="8765920" y="334901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I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10FE46-BB82-6F4E-FFF5-C81DB33F7E98}"/>
              </a:ext>
            </a:extLst>
          </p:cNvPr>
          <p:cNvSpPr txBox="1"/>
          <p:nvPr/>
        </p:nvSpPr>
        <p:spPr>
          <a:xfrm>
            <a:off x="8778411" y="4992965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Most likely </a:t>
            </a:r>
          </a:p>
          <a:p>
            <a:pPr algn="ctr"/>
            <a:r>
              <a:rPr lang="en-US" dirty="0"/>
              <a:t>fraud</a:t>
            </a:r>
            <a:endParaRPr lang="en-IN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6B9F25-38BB-BBAF-16F5-5D46DF12860A}"/>
              </a:ext>
            </a:extLst>
          </p:cNvPr>
          <p:cNvSpPr txBox="1"/>
          <p:nvPr/>
        </p:nvSpPr>
        <p:spPr>
          <a:xfrm>
            <a:off x="2515065" y="5996813"/>
            <a:ext cx="6490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Tree Behavior with Linear Time Representation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6286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7297BD-59E9-A432-C66F-AEACB0BA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8" r="11691"/>
          <a:stretch>
            <a:fillRect/>
          </a:stretch>
        </p:blipFill>
        <p:spPr>
          <a:xfrm>
            <a:off x="3995014" y="1258599"/>
            <a:ext cx="6768753" cy="419325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4B9A96-2C4A-1B96-0030-07DF1E2BA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116566"/>
              </p:ext>
            </p:extLst>
          </p:nvPr>
        </p:nvGraphicFramePr>
        <p:xfrm>
          <a:off x="143297" y="2708920"/>
          <a:ext cx="3672408" cy="31100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187369573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191333451"/>
                    </a:ext>
                  </a:extLst>
                </a:gridCol>
                <a:gridCol w="1085384">
                  <a:extLst>
                    <a:ext uri="{9D8B030D-6E8A-4147-A177-3AD203B41FA5}">
                      <a16:colId xmlns:a16="http://schemas.microsoft.com/office/drawing/2014/main" val="3736355862"/>
                    </a:ext>
                  </a:extLst>
                </a:gridCol>
                <a:gridCol w="1146864">
                  <a:extLst>
                    <a:ext uri="{9D8B030D-6E8A-4147-A177-3AD203B41FA5}">
                      <a16:colId xmlns:a16="http://schemas.microsoft.com/office/drawing/2014/main" val="1199137095"/>
                    </a:ext>
                  </a:extLst>
                </a:gridCol>
              </a:tblGrid>
              <a:tr h="602909">
                <a:tc>
                  <a:txBody>
                    <a:bodyPr/>
                    <a:lstStyle/>
                    <a:p>
                      <a:r>
                        <a:rPr lang="en-US" sz="1600" b="1" dirty="0"/>
                        <a:t>Hour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Time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Hour_sin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Hour_cos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218126"/>
                  </a:ext>
                </a:extLst>
              </a:tr>
              <a:tr h="384880">
                <a:tc>
                  <a:txBody>
                    <a:bodyPr/>
                    <a:lstStyle/>
                    <a:p>
                      <a:r>
                        <a:rPr lang="en-US" sz="1600" b="1" dirty="0"/>
                        <a:t>22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10 PM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-0.500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0.866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065974"/>
                  </a:ext>
                </a:extLst>
              </a:tr>
              <a:tr h="384880">
                <a:tc>
                  <a:txBody>
                    <a:bodyPr/>
                    <a:lstStyle/>
                    <a:p>
                      <a:r>
                        <a:rPr lang="en-US" sz="1600" b="1" dirty="0"/>
                        <a:t>23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11 PM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-0.259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0.966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330887"/>
                  </a:ext>
                </a:extLst>
              </a:tr>
              <a:tr h="384880">
                <a:tc>
                  <a:txBody>
                    <a:bodyPr/>
                    <a:lstStyle/>
                    <a:p>
                      <a:r>
                        <a:rPr lang="en-US" sz="1600" b="1" dirty="0"/>
                        <a:t>0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12 AM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0.000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1.000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816217"/>
                  </a:ext>
                </a:extLst>
              </a:tr>
              <a:tr h="384880">
                <a:tc>
                  <a:txBody>
                    <a:bodyPr/>
                    <a:lstStyle/>
                    <a:p>
                      <a:r>
                        <a:rPr lang="en-US" sz="1600" b="1" dirty="0"/>
                        <a:t>1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 AM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0.259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0.966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328671"/>
                  </a:ext>
                </a:extLst>
              </a:tr>
              <a:tr h="384880">
                <a:tc>
                  <a:txBody>
                    <a:bodyPr/>
                    <a:lstStyle/>
                    <a:p>
                      <a:r>
                        <a:rPr lang="en-US" sz="1600" b="1" dirty="0"/>
                        <a:t>2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 AM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0.500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0.866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8190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BFD55D-10D6-6ACA-B324-9B109127E756}"/>
              </a:ext>
            </a:extLst>
          </p:cNvPr>
          <p:cNvSpPr txBox="1"/>
          <p:nvPr/>
        </p:nvSpPr>
        <p:spPr>
          <a:xfrm>
            <a:off x="2447553" y="5949280"/>
            <a:ext cx="6490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Tree Behavior with Cyclic encoding of Time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56C178-182A-D2D8-C585-17C4512F2345}"/>
                  </a:ext>
                </a:extLst>
              </p:cNvPr>
              <p:cNvSpPr txBox="1"/>
              <p:nvPr/>
            </p:nvSpPr>
            <p:spPr>
              <a:xfrm>
                <a:off x="359321" y="1053145"/>
                <a:ext cx="3059629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cos</m:t>
                      </m:r>
                      <m:r>
                        <m:rPr>
                          <m:lit/>
                          <m:nor/>
                        </m:rPr>
                        <a:rPr lang="en-IN" b="0" i="1"/>
                        <m:t>_</m:t>
                      </m:r>
                      <m:r>
                        <m:rPr>
                          <m:nor/>
                        </m:rPr>
                        <a:rPr lang="en-IN" b="0" i="1"/>
                        <m:t>hour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b="0" i="1">
                                      <a:latin typeface="Cambria Math" panose="02040503050406030204" pitchFamily="18" charset="0"/>
                                    </a:rPr>
                                    <m:t>hour</m:t>
                                  </m:r>
                                </m:num>
                                <m:den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24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56C178-182A-D2D8-C585-17C4512F2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1" y="1053145"/>
                <a:ext cx="3059629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9B8B6A-12B8-9EB1-A60E-27C5F8D5CDD6}"/>
                  </a:ext>
                </a:extLst>
              </p:cNvPr>
              <p:cNvSpPr txBox="1"/>
              <p:nvPr/>
            </p:nvSpPr>
            <p:spPr>
              <a:xfrm>
                <a:off x="394614" y="1767828"/>
                <a:ext cx="3024336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m:rPr>
                          <m:lit/>
                          <m:nor/>
                        </m:rPr>
                        <a:rPr lang="en-IN" b="0" i="1" smtClean="0"/>
                        <m:t>_</m:t>
                      </m:r>
                      <m:r>
                        <m:rPr>
                          <m:nor/>
                        </m:rPr>
                        <a:rPr lang="en-IN" b="0" i="1" smtClean="0"/>
                        <m:t>hour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b="0" i="1">
                                      <a:latin typeface="Cambria Math" panose="02040503050406030204" pitchFamily="18" charset="0"/>
                                    </a:rPr>
                                    <m:t>hour</m:t>
                                  </m:r>
                                </m:num>
                                <m:den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24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9B8B6A-12B8-9EB1-A60E-27C5F8D5C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14" y="1767828"/>
                <a:ext cx="3024336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019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220F6-DAF2-6E23-B603-B9293D04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D26835-DAEE-DFA5-550D-947BE98CD584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 descr="A graph of an equation&#10;&#10;AI-generated content may be incorrect.">
            <a:extLst>
              <a:ext uri="{FF2B5EF4-FFF2-40B4-BE49-F238E27FC236}">
                <a16:creationId xmlns:a16="http://schemas.microsoft.com/office/drawing/2014/main" id="{851D173B-DA75-7DCF-3BD3-B025A34CD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545" y="908720"/>
            <a:ext cx="5134366" cy="52623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3F3F38-F7ED-293C-0F8E-FCE62862F5D4}"/>
              </a:ext>
            </a:extLst>
          </p:cNvPr>
          <p:cNvSpPr txBox="1"/>
          <p:nvPr/>
        </p:nvSpPr>
        <p:spPr>
          <a:xfrm>
            <a:off x="3599681" y="6138378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Cyclic representation of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77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6E781D-A319-32F0-1E6D-08C06CEBDA37}"/>
              </a:ext>
            </a:extLst>
          </p:cNvPr>
          <p:cNvSpPr txBox="1"/>
          <p:nvPr/>
        </p:nvSpPr>
        <p:spPr>
          <a:xfrm>
            <a:off x="71289" y="908720"/>
            <a:ext cx="1072847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SMOTE - </a:t>
            </a:r>
            <a:r>
              <a:rPr lang="en-IN" b="1" dirty="0"/>
              <a:t>Synthetic Minority Oversampling Technique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dirty="0"/>
              <a:t>It </a:t>
            </a:r>
            <a:r>
              <a:rPr lang="en-IN" b="1" dirty="0"/>
              <a:t>does not duplicate</a:t>
            </a:r>
            <a:r>
              <a:rPr lang="en-IN" dirty="0"/>
              <a:t> the existing rows.</a:t>
            </a:r>
          </a:p>
          <a:p>
            <a:endParaRPr lang="en-IN" b="1" dirty="0"/>
          </a:p>
          <a:p>
            <a:r>
              <a:rPr lang="en-IN" dirty="0"/>
              <a:t>Creates </a:t>
            </a:r>
            <a:r>
              <a:rPr lang="en-IN" b="1" dirty="0"/>
              <a:t>new synthetic samples</a:t>
            </a:r>
            <a:r>
              <a:rPr lang="en-IN" dirty="0"/>
              <a:t> by interpolating between real minority samples.</a:t>
            </a:r>
          </a:p>
          <a:p>
            <a:endParaRPr lang="en-IN" dirty="0"/>
          </a:p>
          <a:p>
            <a:r>
              <a:rPr lang="en-IN" dirty="0"/>
              <a:t>Uses the concept of </a:t>
            </a:r>
            <a:r>
              <a:rPr lang="en-IN" b="1" dirty="0"/>
              <a:t>K-Nearest Neighbour.</a:t>
            </a:r>
          </a:p>
          <a:p>
            <a:endParaRPr lang="en-IN" dirty="0"/>
          </a:p>
          <a:p>
            <a:r>
              <a:rPr lang="en-US" dirty="0"/>
              <a:t>		     </a:t>
            </a:r>
            <a:r>
              <a:rPr lang="en-US" b="1" dirty="0"/>
              <a:t> </a:t>
            </a:r>
            <a:r>
              <a:rPr lang="en-US" b="1" dirty="0" err="1"/>
              <a:t>Synthetic_sample</a:t>
            </a:r>
            <a:r>
              <a:rPr lang="en-US" b="1" dirty="0"/>
              <a:t> = Original + λ × (Neighbor - Original)</a:t>
            </a:r>
          </a:p>
          <a:p>
            <a:endParaRPr lang="en-US" b="1" dirty="0"/>
          </a:p>
          <a:p>
            <a:r>
              <a:rPr lang="en-US" b="1" dirty="0"/>
              <a:t>original </a:t>
            </a:r>
            <a:r>
              <a:rPr lang="en-US" dirty="0"/>
              <a:t>= original minority class sample</a:t>
            </a:r>
          </a:p>
          <a:p>
            <a:endParaRPr lang="en-US" dirty="0"/>
          </a:p>
          <a:p>
            <a:r>
              <a:rPr lang="en-US" b="1" dirty="0"/>
              <a:t>neighbor </a:t>
            </a:r>
            <a:r>
              <a:rPr lang="en-US" dirty="0"/>
              <a:t>= randomly selected neighbor from k-nearest neighbors </a:t>
            </a:r>
          </a:p>
          <a:p>
            <a:endParaRPr lang="en-US" dirty="0"/>
          </a:p>
          <a:p>
            <a:r>
              <a:rPr lang="en-US" b="1" dirty="0"/>
              <a:t>λ</a:t>
            </a:r>
            <a:r>
              <a:rPr lang="en-US" dirty="0"/>
              <a:t> = random number between 0 and 1 </a:t>
            </a:r>
          </a:p>
          <a:p>
            <a:endParaRPr lang="en-US" dirty="0"/>
          </a:p>
          <a:p>
            <a:r>
              <a:rPr lang="en-US" b="1" dirty="0"/>
              <a:t>Synthetic sample </a:t>
            </a:r>
            <a:r>
              <a:rPr lang="en-US" dirty="0"/>
              <a:t>= new synthetic sample created</a:t>
            </a:r>
          </a:p>
          <a:p>
            <a:endParaRPr lang="en-US" b="1" dirty="0"/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77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79716-E70D-DD7E-8C03-4396B0917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C353D7-F878-F935-84B6-D4C5F6A2FF67}"/>
              </a:ext>
            </a:extLst>
          </p:cNvPr>
          <p:cNvSpPr txBox="1"/>
          <p:nvPr/>
        </p:nvSpPr>
        <p:spPr>
          <a:xfrm>
            <a:off x="71289" y="908720"/>
            <a:ext cx="1072847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SMOTE Parameters</a:t>
            </a:r>
          </a:p>
          <a:p>
            <a:endParaRPr lang="en-US" dirty="0"/>
          </a:p>
          <a:p>
            <a:pPr algn="ctr"/>
            <a:r>
              <a:rPr lang="en-US" sz="1600" dirty="0"/>
              <a:t>	Formula - </a:t>
            </a:r>
            <a:r>
              <a:rPr lang="en-US" sz="1600" dirty="0" err="1"/>
              <a:t>Synthetic_sample</a:t>
            </a:r>
            <a:r>
              <a:rPr lang="en-US" sz="1600" dirty="0"/>
              <a:t> = Original + λ × (Neighbor - Original)</a:t>
            </a:r>
          </a:p>
          <a:p>
            <a:r>
              <a:rPr lang="en-US" sz="1600" dirty="0"/>
              <a:t>                                            </a:t>
            </a:r>
          </a:p>
          <a:p>
            <a:r>
              <a:rPr lang="en-US" sz="1600" dirty="0"/>
              <a:t>			Take </a:t>
            </a:r>
            <a:r>
              <a:rPr lang="en-US" sz="1600" b="1" dirty="0"/>
              <a:t>first sample</a:t>
            </a:r>
            <a:r>
              <a:rPr lang="en-US" sz="1600" dirty="0"/>
              <a:t> (22, 180) as the </a:t>
            </a:r>
            <a:r>
              <a:rPr lang="en-US" sz="1600" b="1" dirty="0"/>
              <a:t>original</a:t>
            </a:r>
            <a:r>
              <a:rPr lang="en-US" sz="1600" dirty="0"/>
              <a:t> sample and </a:t>
            </a:r>
            <a:r>
              <a:rPr lang="en-US" sz="1600" b="1" dirty="0"/>
              <a:t>second sample (24, 200)</a:t>
            </a:r>
            <a:r>
              <a:rPr lang="en-US" sz="1600" dirty="0"/>
              <a:t> as 			 the neighbor.</a:t>
            </a:r>
          </a:p>
          <a:p>
            <a:endParaRPr lang="en-US" sz="1600" dirty="0"/>
          </a:p>
          <a:p>
            <a:r>
              <a:rPr lang="en-US" sz="1600" dirty="0"/>
              <a:t> 			 take </a:t>
            </a:r>
            <a:r>
              <a:rPr lang="en-US" sz="1600" b="1" dirty="0"/>
              <a:t>λ</a:t>
            </a:r>
            <a:r>
              <a:rPr lang="en-US" sz="1600" dirty="0"/>
              <a:t> as 0.5 ( it can be random value between 0 and 1)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			</a:t>
            </a:r>
            <a:r>
              <a:rPr lang="en-US" sz="1600" dirty="0" err="1"/>
              <a:t>age_synthetic</a:t>
            </a:r>
            <a:r>
              <a:rPr lang="en-US" sz="1600" dirty="0"/>
              <a:t> = 22 + 0.5 × (24 - 22) </a:t>
            </a:r>
          </a:p>
          <a:p>
            <a:r>
              <a:rPr lang="en-US" sz="1600" dirty="0"/>
              <a:t>				         = 23</a:t>
            </a:r>
          </a:p>
          <a:p>
            <a:endParaRPr lang="en-US" sz="1600" dirty="0"/>
          </a:p>
          <a:p>
            <a:r>
              <a:rPr lang="en-US" sz="1600" dirty="0"/>
              <a:t>			</a:t>
            </a:r>
            <a:r>
              <a:rPr lang="en-US" sz="1600" dirty="0" err="1"/>
              <a:t>purchase_value_synthetic</a:t>
            </a:r>
            <a:r>
              <a:rPr lang="en-US" sz="1600" dirty="0"/>
              <a:t> = </a:t>
            </a:r>
            <a:r>
              <a:rPr lang="en-IN" sz="1600" dirty="0"/>
              <a:t>180 + 0.5 × (200 - 180)</a:t>
            </a:r>
          </a:p>
          <a:p>
            <a:r>
              <a:rPr lang="en-IN" sz="1600" dirty="0"/>
              <a:t>				                          = 190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New synthetic values : </a:t>
            </a:r>
            <a:endParaRPr lang="en-US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F48010-CE04-F6AB-0B91-F8ACD823A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242621"/>
              </p:ext>
            </p:extLst>
          </p:nvPr>
        </p:nvGraphicFramePr>
        <p:xfrm>
          <a:off x="215305" y="2348880"/>
          <a:ext cx="244827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7593">
                  <a:extLst>
                    <a:ext uri="{9D8B030D-6E8A-4147-A177-3AD203B41FA5}">
                      <a16:colId xmlns:a16="http://schemas.microsoft.com/office/drawing/2014/main" val="2565135304"/>
                    </a:ext>
                  </a:extLst>
                </a:gridCol>
                <a:gridCol w="1800679">
                  <a:extLst>
                    <a:ext uri="{9D8B030D-6E8A-4147-A177-3AD203B41FA5}">
                      <a16:colId xmlns:a16="http://schemas.microsoft.com/office/drawing/2014/main" val="2369980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AGE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PURCHASE VALUE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210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22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180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888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24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4279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1053D9-CE48-472B-5885-F01F58BFF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296103"/>
              </p:ext>
            </p:extLst>
          </p:nvPr>
        </p:nvGraphicFramePr>
        <p:xfrm>
          <a:off x="2807593" y="4941168"/>
          <a:ext cx="719984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9921">
                  <a:extLst>
                    <a:ext uri="{9D8B030D-6E8A-4147-A177-3AD203B41FA5}">
                      <a16:colId xmlns:a16="http://schemas.microsoft.com/office/drawing/2014/main" val="2415490281"/>
                    </a:ext>
                  </a:extLst>
                </a:gridCol>
                <a:gridCol w="3599921">
                  <a:extLst>
                    <a:ext uri="{9D8B030D-6E8A-4147-A177-3AD203B41FA5}">
                      <a16:colId xmlns:a16="http://schemas.microsoft.com/office/drawing/2014/main" val="238275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PURCHASE VALUE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49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205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09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DA68A8A-2F6E-8186-BD38-138ECB42D4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9834253"/>
              </p:ext>
            </p:extLst>
          </p:nvPr>
        </p:nvGraphicFramePr>
        <p:xfrm>
          <a:off x="1799960" y="1029052"/>
          <a:ext cx="7199842" cy="4799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8C24E1-C7E1-08B3-7CA2-E2F0BB7AD4ED}"/>
              </a:ext>
            </a:extLst>
          </p:cNvPr>
          <p:cNvSpPr txBox="1"/>
          <p:nvPr/>
        </p:nvSpPr>
        <p:spPr>
          <a:xfrm>
            <a:off x="3095625" y="35010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(22, 180)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41DA8-01DA-D38D-CAE0-619F3F82AE7A}"/>
              </a:ext>
            </a:extLst>
          </p:cNvPr>
          <p:cNvSpPr txBox="1"/>
          <p:nvPr/>
        </p:nvSpPr>
        <p:spPr>
          <a:xfrm>
            <a:off x="7272089" y="24208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(24, 200)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B74F0-9121-59AB-4A6F-8096B4ED2201}"/>
              </a:ext>
            </a:extLst>
          </p:cNvPr>
          <p:cNvSpPr txBox="1"/>
          <p:nvPr/>
        </p:nvSpPr>
        <p:spPr>
          <a:xfrm>
            <a:off x="4391769" y="1969434"/>
            <a:ext cx="2364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New synthetic point</a:t>
            </a:r>
          </a:p>
          <a:p>
            <a:r>
              <a:rPr lang="en-US" b="1" dirty="0"/>
              <a:t>          (23, 190)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C2695-A96C-D906-4F6F-2BD70BA4BCDC}"/>
              </a:ext>
            </a:extLst>
          </p:cNvPr>
          <p:cNvSpPr txBox="1"/>
          <p:nvPr/>
        </p:nvSpPr>
        <p:spPr>
          <a:xfrm>
            <a:off x="3095625" y="5943387"/>
            <a:ext cx="5431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Visual Demonstration of SMOTE Interpolation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8931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arison of a graph&#10;&#10;AI-generated content may be incorrect.">
            <a:extLst>
              <a:ext uri="{FF2B5EF4-FFF2-40B4-BE49-F238E27FC236}">
                <a16:creationId xmlns:a16="http://schemas.microsoft.com/office/drawing/2014/main" id="{A394FDDA-B246-21EB-1CC8-841BD46A7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78" y="1346005"/>
            <a:ext cx="9048006" cy="4480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197A6B-30F4-8887-C5D0-7D64AA619CC0}"/>
              </a:ext>
            </a:extLst>
          </p:cNvPr>
          <p:cNvSpPr txBox="1"/>
          <p:nvPr/>
        </p:nvSpPr>
        <p:spPr>
          <a:xfrm>
            <a:off x="2879601" y="5821337"/>
            <a:ext cx="5904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Fraud vs Valid transactions before and after SMOTE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1162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00D665-EB98-C544-D30F-1AEA5E7222D1}"/>
              </a:ext>
            </a:extLst>
          </p:cNvPr>
          <p:cNvSpPr txBox="1"/>
          <p:nvPr/>
        </p:nvSpPr>
        <p:spPr>
          <a:xfrm>
            <a:off x="35644" y="836712"/>
            <a:ext cx="107284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Leakage: Why SMOTE Timing Matters</a:t>
            </a:r>
          </a:p>
          <a:p>
            <a:pPr algn="ctr"/>
            <a:endParaRPr lang="en-US" sz="1600" b="1" dirty="0"/>
          </a:p>
          <a:p>
            <a:r>
              <a:rPr lang="en-IN" sz="1400" dirty="0"/>
              <a:t>Example  			                         DATA : [ A , B , C , D , E ]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	                       </a:t>
            </a:r>
            <a:r>
              <a:rPr lang="en-IN" sz="1400" b="1" dirty="0">
                <a:solidFill>
                  <a:srgbClr val="FF0000"/>
                </a:solidFill>
              </a:rPr>
              <a:t>SMOTE creates S1 sample using A and B (APPLIED ON THE ENTIRE DATASET)</a:t>
            </a:r>
            <a:r>
              <a:rPr lang="en-IN" sz="1400" dirty="0"/>
              <a:t>	</a:t>
            </a:r>
          </a:p>
          <a:p>
            <a:r>
              <a:rPr lang="en-IN" sz="1400" dirty="0"/>
              <a:t>						</a:t>
            </a:r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		                                 NEW DATA : [ A , B , C , D , E , S1]</a:t>
            </a:r>
          </a:p>
          <a:p>
            <a:r>
              <a:rPr lang="en-IN" sz="1400" dirty="0"/>
              <a:t>	</a:t>
            </a:r>
          </a:p>
          <a:p>
            <a:r>
              <a:rPr lang="en-US" sz="1400" b="1" dirty="0"/>
              <a:t>		</a:t>
            </a:r>
          </a:p>
          <a:p>
            <a:endParaRPr lang="en-US" sz="1400" b="1" dirty="0"/>
          </a:p>
          <a:p>
            <a:r>
              <a:rPr lang="en-US" sz="1400" b="1" dirty="0"/>
              <a:t>		</a:t>
            </a:r>
            <a:r>
              <a:rPr lang="en-US" sz="1400" dirty="0"/>
              <a:t>                    RANDOM TRAIN TEST SPLIT ( 80% Train – 20% Split)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D090AC-3954-9E3C-9351-89DB1B082A00}"/>
              </a:ext>
            </a:extLst>
          </p:cNvPr>
          <p:cNvCxnSpPr>
            <a:cxnSpLocks/>
          </p:cNvCxnSpPr>
          <p:nvPr/>
        </p:nvCxnSpPr>
        <p:spPr>
          <a:xfrm>
            <a:off x="5255865" y="1700808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806F90-CC33-871D-09AC-BAEE04AB8A63}"/>
              </a:ext>
            </a:extLst>
          </p:cNvPr>
          <p:cNvCxnSpPr>
            <a:cxnSpLocks/>
          </p:cNvCxnSpPr>
          <p:nvPr/>
        </p:nvCxnSpPr>
        <p:spPr>
          <a:xfrm>
            <a:off x="5268774" y="2544872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FDBF4D-77AA-7358-7B3F-8D094925D3CB}"/>
              </a:ext>
            </a:extLst>
          </p:cNvPr>
          <p:cNvCxnSpPr>
            <a:cxnSpLocks/>
          </p:cNvCxnSpPr>
          <p:nvPr/>
        </p:nvCxnSpPr>
        <p:spPr>
          <a:xfrm>
            <a:off x="5255865" y="3429000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45DF8B-7701-EADA-A7AB-6192E84DF69E}"/>
              </a:ext>
            </a:extLst>
          </p:cNvPr>
          <p:cNvCxnSpPr>
            <a:cxnSpLocks/>
          </p:cNvCxnSpPr>
          <p:nvPr/>
        </p:nvCxnSpPr>
        <p:spPr>
          <a:xfrm flipH="1">
            <a:off x="4455393" y="4248840"/>
            <a:ext cx="800472" cy="472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A3B3A7A-2677-C6F4-A8E7-E04C6043A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570245"/>
              </p:ext>
            </p:extLst>
          </p:nvPr>
        </p:nvGraphicFramePr>
        <p:xfrm>
          <a:off x="1151409" y="4653136"/>
          <a:ext cx="2807833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7833">
                  <a:extLst>
                    <a:ext uri="{9D8B030D-6E8A-4147-A177-3AD203B41FA5}">
                      <a16:colId xmlns:a16="http://schemas.microsoft.com/office/drawing/2014/main" val="3448140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901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2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4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928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S1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376323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C5E84D-759C-DF98-81F4-337D387EC25B}"/>
              </a:ext>
            </a:extLst>
          </p:cNvPr>
          <p:cNvCxnSpPr>
            <a:cxnSpLocks/>
          </p:cNvCxnSpPr>
          <p:nvPr/>
        </p:nvCxnSpPr>
        <p:spPr>
          <a:xfrm>
            <a:off x="5268774" y="4253032"/>
            <a:ext cx="779179" cy="4679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7242FAC-DA21-5C6B-F412-725DE8ACC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309714"/>
              </p:ext>
            </p:extLst>
          </p:nvPr>
        </p:nvGraphicFramePr>
        <p:xfrm>
          <a:off x="6047953" y="4797152"/>
          <a:ext cx="2983182" cy="1684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3182">
                  <a:extLst>
                    <a:ext uri="{9D8B030D-6E8A-4147-A177-3AD203B41FA5}">
                      <a16:colId xmlns:a16="http://schemas.microsoft.com/office/drawing/2014/main" val="1119945684"/>
                    </a:ext>
                  </a:extLst>
                </a:gridCol>
              </a:tblGrid>
              <a:tr h="5613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10663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00516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767546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89430F-1242-0F93-1DA0-AFEDB60BF405}"/>
              </a:ext>
            </a:extLst>
          </p:cNvPr>
          <p:cNvCxnSpPr>
            <a:cxnSpLocks/>
          </p:cNvCxnSpPr>
          <p:nvPr/>
        </p:nvCxnSpPr>
        <p:spPr>
          <a:xfrm flipH="1">
            <a:off x="3383657" y="6309320"/>
            <a:ext cx="38884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812989C-21CA-6BC3-C557-A97E4CFE0017}"/>
              </a:ext>
            </a:extLst>
          </p:cNvPr>
          <p:cNvSpPr txBox="1"/>
          <p:nvPr/>
        </p:nvSpPr>
        <p:spPr>
          <a:xfrm>
            <a:off x="4114952" y="5898595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S1 Created using B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99766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59956-DDA4-C2E2-383A-21878FECA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FE2283-E156-D456-D2DC-DB589C89885F}"/>
              </a:ext>
            </a:extLst>
          </p:cNvPr>
          <p:cNvSpPr txBox="1"/>
          <p:nvPr/>
        </p:nvSpPr>
        <p:spPr>
          <a:xfrm>
            <a:off x="35644" y="836712"/>
            <a:ext cx="1072847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Correct SMOTE Workflow (Leakage-Free Approach)</a:t>
            </a:r>
          </a:p>
          <a:p>
            <a:pPr algn="ctr"/>
            <a:endParaRPr lang="en-US" sz="1400" b="1" dirty="0"/>
          </a:p>
          <a:p>
            <a:r>
              <a:rPr lang="en-IN" sz="1400" dirty="0"/>
              <a:t>Example  			                         DATA : [ A , B , C , D , E ]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			    </a:t>
            </a:r>
            <a:r>
              <a:rPr lang="en-US" sz="1400" b="1" dirty="0">
                <a:solidFill>
                  <a:srgbClr val="0070C0"/>
                </a:solidFill>
              </a:rPr>
              <a:t>RANDOM TRAIN TEST SPLIT ( 80% Train – 20% Split)</a:t>
            </a: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r>
              <a:rPr lang="en-US" sz="1400" b="1" dirty="0">
                <a:solidFill>
                  <a:srgbClr val="0070C0"/>
                </a:solidFill>
              </a:rPr>
              <a:t>		</a:t>
            </a:r>
            <a:r>
              <a:rPr lang="en-US" sz="1400" b="1" dirty="0"/>
              <a:t>SMOTE ONLY ON                                                           UNCHANGED ( ORIGINAL DATA )</a:t>
            </a:r>
          </a:p>
          <a:p>
            <a:r>
              <a:rPr lang="en-US" sz="1400" b="1" dirty="0"/>
              <a:t>		  TRAINING DATA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r>
              <a:rPr lang="en-US" sz="1300" b="1" dirty="0"/>
              <a:t>S1 CREATED ONLY USING A, D, E</a:t>
            </a:r>
          </a:p>
          <a:p>
            <a:r>
              <a:rPr lang="en-US" sz="1300" b="1" dirty="0"/>
              <a:t>STAYS WITHIN THE </a:t>
            </a:r>
          </a:p>
          <a:p>
            <a:r>
              <a:rPr lang="en-US" sz="1300" b="1" dirty="0"/>
              <a:t>TRAINING DATASET </a:t>
            </a:r>
            <a:r>
              <a:rPr lang="en-IN" sz="1400" dirty="0"/>
              <a:t>	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25D3A7-B2AA-325E-00D8-D389D80C9F18}"/>
              </a:ext>
            </a:extLst>
          </p:cNvPr>
          <p:cNvCxnSpPr>
            <a:cxnSpLocks/>
          </p:cNvCxnSpPr>
          <p:nvPr/>
        </p:nvCxnSpPr>
        <p:spPr>
          <a:xfrm>
            <a:off x="5255865" y="1556792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A6114F-2681-F9DF-DBC9-B0CDB1D23F3E}"/>
              </a:ext>
            </a:extLst>
          </p:cNvPr>
          <p:cNvCxnSpPr>
            <a:cxnSpLocks/>
          </p:cNvCxnSpPr>
          <p:nvPr/>
        </p:nvCxnSpPr>
        <p:spPr>
          <a:xfrm flipH="1">
            <a:off x="4455393" y="2409052"/>
            <a:ext cx="800472" cy="472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5E66D14-0B9E-9725-6AB9-E367F29B7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913110"/>
              </p:ext>
            </p:extLst>
          </p:nvPr>
        </p:nvGraphicFramePr>
        <p:xfrm>
          <a:off x="2951609" y="2934348"/>
          <a:ext cx="1656183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3">
                  <a:extLst>
                    <a:ext uri="{9D8B030D-6E8A-4147-A177-3AD203B41FA5}">
                      <a16:colId xmlns:a16="http://schemas.microsoft.com/office/drawing/2014/main" val="3448140807"/>
                    </a:ext>
                  </a:extLst>
                </a:gridCol>
              </a:tblGrid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TRAIN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901200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26565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46595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928807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241C6A-97D0-CD57-7E7F-0A66E61DCEC4}"/>
              </a:ext>
            </a:extLst>
          </p:cNvPr>
          <p:cNvCxnSpPr>
            <a:cxnSpLocks/>
          </p:cNvCxnSpPr>
          <p:nvPr/>
        </p:nvCxnSpPr>
        <p:spPr>
          <a:xfrm>
            <a:off x="5255865" y="2409052"/>
            <a:ext cx="779179" cy="4679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6127987-6761-81FB-A8B5-85EB2F704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66008"/>
              </p:ext>
            </p:extLst>
          </p:nvPr>
        </p:nvGraphicFramePr>
        <p:xfrm>
          <a:off x="5510622" y="2971800"/>
          <a:ext cx="10488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844">
                  <a:extLst>
                    <a:ext uri="{9D8B030D-6E8A-4147-A177-3AD203B41FA5}">
                      <a16:colId xmlns:a16="http://schemas.microsoft.com/office/drawing/2014/main" val="1119945684"/>
                    </a:ext>
                  </a:extLst>
                </a:gridCol>
              </a:tblGrid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10663"/>
                  </a:ext>
                </a:extLst>
              </a:tr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00516"/>
                  </a:ext>
                </a:extLst>
              </a:tr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767546"/>
                  </a:ext>
                </a:extLst>
              </a:tr>
            </a:tbl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B2DA44E-768B-9FD1-D2DB-04899CD785DF}"/>
              </a:ext>
            </a:extLst>
          </p:cNvPr>
          <p:cNvCxnSpPr>
            <a:cxnSpLocks/>
          </p:cNvCxnSpPr>
          <p:nvPr/>
        </p:nvCxnSpPr>
        <p:spPr>
          <a:xfrm>
            <a:off x="3779700" y="4221088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89A743-B036-9F43-5D12-A088ACB65BB1}"/>
              </a:ext>
            </a:extLst>
          </p:cNvPr>
          <p:cNvCxnSpPr>
            <a:cxnSpLocks/>
          </p:cNvCxnSpPr>
          <p:nvPr/>
        </p:nvCxnSpPr>
        <p:spPr>
          <a:xfrm>
            <a:off x="6035044" y="3969060"/>
            <a:ext cx="0" cy="7560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B33C283-88F3-4CCF-0F6C-C776F0A35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395830"/>
              </p:ext>
            </p:extLst>
          </p:nvPr>
        </p:nvGraphicFramePr>
        <p:xfrm>
          <a:off x="2945082" y="4874570"/>
          <a:ext cx="1656183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3">
                  <a:extLst>
                    <a:ext uri="{9D8B030D-6E8A-4147-A177-3AD203B41FA5}">
                      <a16:colId xmlns:a16="http://schemas.microsoft.com/office/drawing/2014/main" val="3448140807"/>
                    </a:ext>
                  </a:extLst>
                </a:gridCol>
              </a:tblGrid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TRAIN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901200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26565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46595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928807"/>
                  </a:ext>
                </a:extLst>
              </a:tr>
              <a:tr h="1834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S1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85623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E42F95F-D06D-3A1B-8CD6-C48F209BD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36482"/>
              </p:ext>
            </p:extLst>
          </p:nvPr>
        </p:nvGraphicFramePr>
        <p:xfrm>
          <a:off x="5510622" y="4874570"/>
          <a:ext cx="10488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844">
                  <a:extLst>
                    <a:ext uri="{9D8B030D-6E8A-4147-A177-3AD203B41FA5}">
                      <a16:colId xmlns:a16="http://schemas.microsoft.com/office/drawing/2014/main" val="1119945684"/>
                    </a:ext>
                  </a:extLst>
                </a:gridCol>
              </a:tblGrid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10663"/>
                  </a:ext>
                </a:extLst>
              </a:tr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00516"/>
                  </a:ext>
                </a:extLst>
              </a:tr>
              <a:tr h="155973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767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7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CAAD-07F3-B69D-F9BB-A7767FDE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ata set&#10;&#10;AI-generated content may be incorrect.">
            <a:extLst>
              <a:ext uri="{FF2B5EF4-FFF2-40B4-BE49-F238E27FC236}">
                <a16:creationId xmlns:a16="http://schemas.microsoft.com/office/drawing/2014/main" id="{021DBCC5-73CD-3390-304F-5F051D93FC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6" r="8669"/>
          <a:stretch>
            <a:fillRect/>
          </a:stretch>
        </p:blipFill>
        <p:spPr>
          <a:xfrm>
            <a:off x="0" y="1412776"/>
            <a:ext cx="3857513" cy="3384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00D073-9FB3-E505-517E-28BB8D7F3568}"/>
              </a:ext>
            </a:extLst>
          </p:cNvPr>
          <p:cNvSpPr txBox="1"/>
          <p:nvPr/>
        </p:nvSpPr>
        <p:spPr>
          <a:xfrm>
            <a:off x="781123" y="4797152"/>
            <a:ext cx="8173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116,878</a:t>
            </a:r>
            <a:endParaRPr lang="en-IN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BEB34-D920-E8F7-3E38-56C5A84D7ACF}"/>
              </a:ext>
            </a:extLst>
          </p:cNvPr>
          <p:cNvSpPr txBox="1"/>
          <p:nvPr/>
        </p:nvSpPr>
        <p:spPr>
          <a:xfrm>
            <a:off x="2645484" y="4802610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12,268</a:t>
            </a:r>
            <a:endParaRPr lang="en-IN" sz="1400" b="1" dirty="0"/>
          </a:p>
        </p:txBody>
      </p:sp>
      <p:pic>
        <p:nvPicPr>
          <p:cNvPr id="9" name="Picture 8" descr="A graph of a training dataset&#10;&#10;AI-generated content may be incorrect.">
            <a:extLst>
              <a:ext uri="{FF2B5EF4-FFF2-40B4-BE49-F238E27FC236}">
                <a16:creationId xmlns:a16="http://schemas.microsoft.com/office/drawing/2014/main" id="{E72B36F6-5569-9ACC-8ED3-244C149A51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" t="4327" r="8000" b="2163"/>
          <a:stretch>
            <a:fillRect/>
          </a:stretch>
        </p:blipFill>
        <p:spPr>
          <a:xfrm>
            <a:off x="3862810" y="1484784"/>
            <a:ext cx="3716404" cy="32403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221119-9B05-8337-BAE5-63E09CA98C68}"/>
              </a:ext>
            </a:extLst>
          </p:cNvPr>
          <p:cNvSpPr txBox="1"/>
          <p:nvPr/>
        </p:nvSpPr>
        <p:spPr>
          <a:xfrm>
            <a:off x="4706758" y="4797151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93,502</a:t>
            </a:r>
            <a:endParaRPr lang="en-IN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E30A97-469A-F180-F701-364F8A3EEC6E}"/>
              </a:ext>
            </a:extLst>
          </p:cNvPr>
          <p:cNvSpPr txBox="1"/>
          <p:nvPr/>
        </p:nvSpPr>
        <p:spPr>
          <a:xfrm>
            <a:off x="6287293" y="4797151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93,502</a:t>
            </a:r>
            <a:endParaRPr lang="en-IN" sz="1400" b="1" dirty="0"/>
          </a:p>
        </p:txBody>
      </p:sp>
      <p:pic>
        <p:nvPicPr>
          <p:cNvPr id="13" name="Picture 12" descr="A graph with orange bars&#10;&#10;AI-generated content may be incorrect.">
            <a:extLst>
              <a:ext uri="{FF2B5EF4-FFF2-40B4-BE49-F238E27FC236}">
                <a16:creationId xmlns:a16="http://schemas.microsoft.com/office/drawing/2014/main" id="{8E2E807F-307E-7D32-B68C-A255F6B59D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9" t="5467" r="9444" b="2752"/>
          <a:stretch>
            <a:fillRect/>
          </a:stretch>
        </p:blipFill>
        <p:spPr>
          <a:xfrm>
            <a:off x="7528346" y="1556792"/>
            <a:ext cx="3271417" cy="30614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9BC5FB-6CA7-F8F3-FFD9-6BC64A44A76B}"/>
              </a:ext>
            </a:extLst>
          </p:cNvPr>
          <p:cNvSpPr txBox="1"/>
          <p:nvPr/>
        </p:nvSpPr>
        <p:spPr>
          <a:xfrm>
            <a:off x="8180698" y="4797150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23,376</a:t>
            </a:r>
            <a:endParaRPr lang="en-IN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BA749C-A5C6-6021-E1DA-66230EEA3E25}"/>
              </a:ext>
            </a:extLst>
          </p:cNvPr>
          <p:cNvSpPr txBox="1"/>
          <p:nvPr/>
        </p:nvSpPr>
        <p:spPr>
          <a:xfrm>
            <a:off x="9735733" y="4796669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2,454</a:t>
            </a:r>
            <a:endParaRPr lang="en-IN" sz="1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18CFD5-BD87-98DF-B77E-C6045299DEAE}"/>
              </a:ext>
            </a:extLst>
          </p:cNvPr>
          <p:cNvSpPr txBox="1"/>
          <p:nvPr/>
        </p:nvSpPr>
        <p:spPr>
          <a:xfrm>
            <a:off x="4391769" y="5301208"/>
            <a:ext cx="3275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80% of the entire dataset</a:t>
            </a:r>
          </a:p>
          <a:p>
            <a:pPr algn="ctr"/>
            <a:r>
              <a:rPr lang="en-US" sz="1600" dirty="0"/>
              <a:t>Fraud (minority) class up sampled</a:t>
            </a:r>
            <a:endParaRPr lang="en-I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3CA643-C356-7186-A8A0-55321C16BBE1}"/>
              </a:ext>
            </a:extLst>
          </p:cNvPr>
          <p:cNvSpPr txBox="1"/>
          <p:nvPr/>
        </p:nvSpPr>
        <p:spPr>
          <a:xfrm>
            <a:off x="8180698" y="5301208"/>
            <a:ext cx="2468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20% of the entire dataset</a:t>
            </a:r>
          </a:p>
          <a:p>
            <a:pPr algn="ctr"/>
            <a:r>
              <a:rPr lang="en-US" sz="1600" dirty="0"/>
              <a:t>unchanged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3714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8EC1-95FF-6EE0-9ED0-870CA5F26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CB344C-E13C-10CE-1FFD-F75CA8843C73}"/>
              </a:ext>
            </a:extLst>
          </p:cNvPr>
          <p:cNvSpPr txBox="1"/>
          <p:nvPr/>
        </p:nvSpPr>
        <p:spPr>
          <a:xfrm>
            <a:off x="0" y="908720"/>
            <a:ext cx="10799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Alternative to SMOTE - </a:t>
            </a:r>
            <a:r>
              <a:rPr lang="en-US" b="1" dirty="0" err="1"/>
              <a:t>scale_pos_weight</a:t>
            </a:r>
            <a:endParaRPr lang="en-US" b="1" dirty="0"/>
          </a:p>
          <a:p>
            <a:pPr algn="ctr"/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857748-8240-E9FF-F0CF-596410F94CCD}"/>
              </a:ext>
            </a:extLst>
          </p:cNvPr>
          <p:cNvSpPr txBox="1"/>
          <p:nvPr/>
        </p:nvSpPr>
        <p:spPr>
          <a:xfrm>
            <a:off x="-9773" y="1484784"/>
            <a:ext cx="107997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scale_pos_weight</a:t>
            </a:r>
            <a:r>
              <a:rPr lang="en-US" dirty="0"/>
              <a:t> = Number of valid samples / Number of fraud samples</a:t>
            </a:r>
          </a:p>
          <a:p>
            <a:r>
              <a:rPr lang="en-US" dirty="0"/>
              <a:t>		= 93,520 / 9,798​</a:t>
            </a:r>
          </a:p>
          <a:p>
            <a:r>
              <a:rPr lang="en-US" dirty="0"/>
              <a:t>		= </a:t>
            </a:r>
            <a:r>
              <a:rPr lang="en-US" b="1" dirty="0"/>
              <a:t>9.5</a:t>
            </a:r>
          </a:p>
          <a:p>
            <a:endParaRPr lang="en-US" b="1" dirty="0"/>
          </a:p>
          <a:p>
            <a:r>
              <a:rPr lang="en-IN" b="1" dirty="0"/>
              <a:t>A fraud error (False Negative) is treated 9.5x more important than a normal error (False Positive)</a:t>
            </a:r>
          </a:p>
          <a:p>
            <a:endParaRPr lang="en-IN" b="1" dirty="0"/>
          </a:p>
          <a:p>
            <a:r>
              <a:rPr lang="en-IN" dirty="0"/>
              <a:t>Example</a:t>
            </a:r>
          </a:p>
          <a:p>
            <a:endParaRPr lang="en-IN" dirty="0"/>
          </a:p>
          <a:p>
            <a:r>
              <a:rPr lang="en-IN" b="1" dirty="0"/>
              <a:t>Without </a:t>
            </a:r>
            <a:r>
              <a:rPr lang="en-IN" b="1" dirty="0" err="1"/>
              <a:t>scale_pos_weight</a:t>
            </a:r>
            <a:endParaRPr lang="en-IN" b="1" dirty="0"/>
          </a:p>
          <a:p>
            <a:r>
              <a:rPr lang="en-IN" dirty="0"/>
              <a:t> </a:t>
            </a:r>
          </a:p>
          <a:p>
            <a:r>
              <a:rPr lang="en-IN" dirty="0"/>
              <a:t>Misses Fraud A – Error Penalty = </a:t>
            </a:r>
            <a:r>
              <a:rPr lang="en-IN" b="1" dirty="0">
                <a:solidFill>
                  <a:srgbClr val="FF0000"/>
                </a:solidFill>
              </a:rPr>
              <a:t>1</a:t>
            </a:r>
            <a:r>
              <a:rPr lang="en-IN" b="1" dirty="0"/>
              <a:t> (Model assumes it just made ‘1’ small mistake)</a:t>
            </a:r>
          </a:p>
          <a:p>
            <a:endParaRPr lang="en-IN" dirty="0"/>
          </a:p>
          <a:p>
            <a:r>
              <a:rPr lang="en-IN" b="1" dirty="0"/>
              <a:t>With </a:t>
            </a:r>
            <a:r>
              <a:rPr lang="en-IN" b="1" dirty="0" err="1"/>
              <a:t>scale_pos_weight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Misses Fraud A – Error Penalty = 1 x 9.5 = </a:t>
            </a:r>
            <a:r>
              <a:rPr lang="en-IN" b="1" dirty="0">
                <a:solidFill>
                  <a:srgbClr val="FF0000"/>
                </a:solidFill>
              </a:rPr>
              <a:t>9.5 </a:t>
            </a:r>
            <a:r>
              <a:rPr lang="en-IN" b="1" dirty="0"/>
              <a:t>(Model realizes the mistake is huge and urgently corrects it) </a:t>
            </a:r>
          </a:p>
        </p:txBody>
      </p:sp>
    </p:spTree>
    <p:extLst>
      <p:ext uri="{BB962C8B-B14F-4D97-AF65-F5344CB8AC3E}">
        <p14:creationId xmlns:p14="http://schemas.microsoft.com/office/powerpoint/2010/main" val="129841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CEB2C-4B6B-A629-276F-1E4A80A1E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70C598-7829-772A-586B-363D5A989334}"/>
              </a:ext>
            </a:extLst>
          </p:cNvPr>
          <p:cNvSpPr txBox="1"/>
          <p:nvPr/>
        </p:nvSpPr>
        <p:spPr>
          <a:xfrm>
            <a:off x="2519561" y="899428"/>
            <a:ext cx="5904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Final Model – XGBoost (Extreme Gradient Boosting)</a:t>
            </a:r>
            <a:endParaRPr lang="en-IN" b="1" dirty="0"/>
          </a:p>
        </p:txBody>
      </p:sp>
      <p:pic>
        <p:nvPicPr>
          <p:cNvPr id="1030" name="Picture 6" descr="ensemble learning in machine learning , process of boosting ">
            <a:extLst>
              <a:ext uri="{FF2B5EF4-FFF2-40B4-BE49-F238E27FC236}">
                <a16:creationId xmlns:a16="http://schemas.microsoft.com/office/drawing/2014/main" id="{B891565E-1643-EE8B-03C9-E3F453E03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77"/>
          <a:stretch>
            <a:fillRect/>
          </a:stretch>
        </p:blipFill>
        <p:spPr bwMode="auto">
          <a:xfrm>
            <a:off x="399256" y="1340768"/>
            <a:ext cx="10001250" cy="4448944"/>
          </a:xfrm>
          <a:prstGeom prst="rect">
            <a:avLst/>
          </a:prstGeom>
          <a:solidFill>
            <a:srgbClr val="FB0000"/>
          </a:solidFill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755DE0-8C0D-2AFD-A7A3-645FA402C2C4}"/>
              </a:ext>
            </a:extLst>
          </p:cNvPr>
          <p:cNvSpPr/>
          <p:nvPr/>
        </p:nvSpPr>
        <p:spPr>
          <a:xfrm>
            <a:off x="2932232" y="1664804"/>
            <a:ext cx="762076" cy="792088"/>
          </a:xfrm>
          <a:prstGeom prst="rect">
            <a:avLst/>
          </a:prstGeom>
          <a:solidFill>
            <a:srgbClr val="FB0000"/>
          </a:solidFill>
          <a:ln>
            <a:solidFill>
              <a:srgbClr val="FB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Dataset</a:t>
            </a:r>
            <a:endParaRPr lang="en-IN" sz="13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A91964-EE09-086F-C95D-DDAE9BE844EF}"/>
              </a:ext>
            </a:extLst>
          </p:cNvPr>
          <p:cNvSpPr/>
          <p:nvPr/>
        </p:nvSpPr>
        <p:spPr>
          <a:xfrm>
            <a:off x="2909613" y="3068960"/>
            <a:ext cx="762076" cy="792088"/>
          </a:xfrm>
          <a:prstGeom prst="rect">
            <a:avLst/>
          </a:prstGeom>
          <a:solidFill>
            <a:srgbClr val="FB0000"/>
          </a:solidFill>
          <a:ln>
            <a:solidFill>
              <a:srgbClr val="FB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D6497-3F41-C698-A905-B219553EF598}"/>
              </a:ext>
            </a:extLst>
          </p:cNvPr>
          <p:cNvSpPr txBox="1"/>
          <p:nvPr/>
        </p:nvSpPr>
        <p:spPr>
          <a:xfrm>
            <a:off x="3671689" y="5996444"/>
            <a:ext cx="3523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Boosting Algorithm - XGBoost</a:t>
            </a:r>
            <a:endParaRPr lang="en-IN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99A5E9-A6C6-1961-A369-14D4AFDF1A36}"/>
              </a:ext>
            </a:extLst>
          </p:cNvPr>
          <p:cNvSpPr/>
          <p:nvPr/>
        </p:nvSpPr>
        <p:spPr>
          <a:xfrm>
            <a:off x="2856982" y="4797152"/>
            <a:ext cx="814707" cy="720080"/>
          </a:xfrm>
          <a:prstGeom prst="rect">
            <a:avLst/>
          </a:prstGeom>
          <a:solidFill>
            <a:srgbClr val="FF502E"/>
          </a:solidFill>
          <a:ln>
            <a:solidFill>
              <a:srgbClr val="FF5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/>
              <a:t>Dataset+error</a:t>
            </a:r>
            <a:r>
              <a:rPr lang="en-US" sz="1100" dirty="0"/>
              <a:t> correction</a:t>
            </a:r>
            <a:endParaRPr lang="en-IN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EAB56-5158-B20C-3B7C-1FAE46DD5F0A}"/>
              </a:ext>
            </a:extLst>
          </p:cNvPr>
          <p:cNvSpPr txBox="1"/>
          <p:nvPr/>
        </p:nvSpPr>
        <p:spPr>
          <a:xfrm>
            <a:off x="0" y="6124491"/>
            <a:ext cx="3061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Weak Learner = Decision Tree</a:t>
            </a:r>
            <a:endParaRPr lang="en-IN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6F5E84-17ED-A529-6EEC-E56D2EE0A035}"/>
              </a:ext>
            </a:extLst>
          </p:cNvPr>
          <p:cNvSpPr/>
          <p:nvPr/>
        </p:nvSpPr>
        <p:spPr>
          <a:xfrm>
            <a:off x="2879601" y="3068960"/>
            <a:ext cx="814707" cy="792088"/>
          </a:xfrm>
          <a:prstGeom prst="rect">
            <a:avLst/>
          </a:prstGeom>
          <a:solidFill>
            <a:srgbClr val="FB0000"/>
          </a:solidFill>
          <a:ln>
            <a:solidFill>
              <a:srgbClr val="FB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Dataset+error</a:t>
            </a:r>
            <a:r>
              <a:rPr lang="en-US" sz="1100" dirty="0"/>
              <a:t> correction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48079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E145B-1D45-F010-C36B-63D59FE13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337DE0-4705-DBD2-D519-CA1C3FDCBE96}"/>
              </a:ext>
            </a:extLst>
          </p:cNvPr>
          <p:cNvSpPr txBox="1"/>
          <p:nvPr/>
        </p:nvSpPr>
        <p:spPr>
          <a:xfrm>
            <a:off x="71289" y="908720"/>
            <a:ext cx="107284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Hyperparameter tuning</a:t>
            </a:r>
          </a:p>
          <a:p>
            <a:pPr algn="ctr"/>
            <a:endParaRPr lang="en-US" b="1" dirty="0"/>
          </a:p>
          <a:p>
            <a:r>
              <a:rPr lang="en-US" dirty="0"/>
              <a:t>Hyperparameters are settings that control how the model learns. </a:t>
            </a:r>
          </a:p>
          <a:p>
            <a:endParaRPr lang="en-US" dirty="0"/>
          </a:p>
          <a:p>
            <a:r>
              <a:rPr lang="en-US" dirty="0"/>
              <a:t>Example 		 Different Combinations of Hyperparameters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CF91E32-45CB-C0B4-E44F-4F65CE8DC052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2084309" y="2386048"/>
            <a:ext cx="3351217" cy="1691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CD9B3F5-5FD9-D2B9-9A69-D3D6357A008F}"/>
              </a:ext>
            </a:extLst>
          </p:cNvPr>
          <p:cNvSpPr txBox="1"/>
          <p:nvPr/>
        </p:nvSpPr>
        <p:spPr>
          <a:xfrm>
            <a:off x="481145" y="4077072"/>
            <a:ext cx="3206327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Learning rate=0.01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Model learns slowly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May need many trees (800+)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May underfit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Training time – Too Long</a:t>
            </a:r>
            <a:endParaRPr lang="en-IN" sz="16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416D9-D1DE-1BB6-1A02-04BDC3900605}"/>
              </a:ext>
            </a:extLst>
          </p:cNvPr>
          <p:cNvSpPr txBox="1"/>
          <p:nvPr/>
        </p:nvSpPr>
        <p:spPr>
          <a:xfrm>
            <a:off x="3943579" y="4077071"/>
            <a:ext cx="2983894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Learning rate=0.5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Model learns too quickly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May need many trees (50-60)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May overfit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Training time – too short</a:t>
            </a:r>
            <a:endParaRPr lang="en-IN" sz="16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8EED0C-AFC0-70E7-1BC2-A03E591013FB}"/>
              </a:ext>
            </a:extLst>
          </p:cNvPr>
          <p:cNvSpPr txBox="1"/>
          <p:nvPr/>
        </p:nvSpPr>
        <p:spPr>
          <a:xfrm>
            <a:off x="7365584" y="4077071"/>
            <a:ext cx="2842317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Learning rate=0.1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Balanced learning speed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Moderate trees (100-200)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Good fit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Training time – Reasonable</a:t>
            </a:r>
            <a:endParaRPr lang="en-IN" sz="1600" b="1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348F5B-591B-9339-CE0A-464FE6558B5E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5435526" y="2386048"/>
            <a:ext cx="0" cy="16910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3BD7A7-48C1-D22A-2D49-B73B8366772A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5435526" y="2386048"/>
            <a:ext cx="3351217" cy="16910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15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427B30-F9CA-477E-AB85-6949A4D21DFF}"/>
              </a:ext>
            </a:extLst>
          </p:cNvPr>
          <p:cNvSpPr txBox="1"/>
          <p:nvPr/>
        </p:nvSpPr>
        <p:spPr>
          <a:xfrm>
            <a:off x="21381" y="908720"/>
            <a:ext cx="1079976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Randomized Search Cross Validation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IN" b="1" dirty="0" err="1"/>
              <a:t>learning_rate</a:t>
            </a:r>
            <a:r>
              <a:rPr lang="en-IN" dirty="0"/>
              <a:t>: [0.01, 0.03, 0.05, 0.1, 0.15, 0.2] (6 options) </a:t>
            </a:r>
          </a:p>
          <a:p>
            <a:pPr algn="ctr"/>
            <a:endParaRPr lang="en-IN" dirty="0"/>
          </a:p>
          <a:p>
            <a:pPr algn="ctr"/>
            <a:r>
              <a:rPr lang="en-IN" b="1" dirty="0" err="1"/>
              <a:t>n_estimators</a:t>
            </a:r>
            <a:r>
              <a:rPr lang="en-IN" dirty="0"/>
              <a:t>: [100, 200, 300, 500, 700, 800] (6 options) </a:t>
            </a:r>
          </a:p>
          <a:p>
            <a:pPr algn="ctr"/>
            <a:endParaRPr lang="en-IN" dirty="0"/>
          </a:p>
          <a:p>
            <a:pPr algn="ctr"/>
            <a:r>
              <a:rPr lang="en-IN" b="1" dirty="0"/>
              <a:t>subsample</a:t>
            </a:r>
            <a:r>
              <a:rPr lang="en-IN" dirty="0"/>
              <a:t>: [0.6, 0.7, 0.8, 0.9, 1.0] (5 options) </a:t>
            </a:r>
          </a:p>
          <a:p>
            <a:pPr algn="ctr"/>
            <a:endParaRPr lang="en-IN" dirty="0"/>
          </a:p>
          <a:p>
            <a:pPr algn="ctr"/>
            <a:r>
              <a:rPr lang="en-IN" b="1" dirty="0" err="1"/>
              <a:t>colsample_bytree</a:t>
            </a:r>
            <a:r>
              <a:rPr lang="en-IN" dirty="0"/>
              <a:t>: [0.6, 0.7, 0.8, 0.9, 1.0] (5 options) 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Total possible combinations: 6 × 6 × 5 × 5 = </a:t>
            </a:r>
            <a:r>
              <a:rPr lang="en-IN" b="1" dirty="0">
                <a:solidFill>
                  <a:srgbClr val="FF0000"/>
                </a:solidFill>
              </a:rPr>
              <a:t>900 model fits</a:t>
            </a:r>
          </a:p>
          <a:p>
            <a:pPr algn="ctr"/>
            <a:endParaRPr lang="en-IN" b="1" dirty="0">
              <a:solidFill>
                <a:srgbClr val="FF0000"/>
              </a:solidFill>
            </a:endParaRPr>
          </a:p>
          <a:p>
            <a:pPr algn="ctr"/>
            <a:endParaRPr lang="en-IN" b="1" dirty="0">
              <a:solidFill>
                <a:srgbClr val="FF0000"/>
              </a:solidFill>
            </a:endParaRPr>
          </a:p>
          <a:p>
            <a:pPr algn="ctr"/>
            <a:r>
              <a:rPr lang="en-IN" b="1" dirty="0"/>
              <a:t>Testing 900 model fits manually is time consuming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615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3D82-823F-EF9F-5A03-C9048C482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CF8F45-7690-EE8C-75A2-A580CA2A6543}"/>
              </a:ext>
            </a:extLst>
          </p:cNvPr>
          <p:cNvSpPr txBox="1"/>
          <p:nvPr/>
        </p:nvSpPr>
        <p:spPr>
          <a:xfrm>
            <a:off x="21381" y="908720"/>
            <a:ext cx="10799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Randomized Search Cross Validation</a:t>
            </a:r>
          </a:p>
          <a:p>
            <a:pPr algn="ctr"/>
            <a:endParaRPr lang="en-US" b="1" dirty="0"/>
          </a:p>
          <a:p>
            <a:r>
              <a:rPr lang="en-US" b="1" dirty="0"/>
              <a:t>K-FOLD CROSS VALIDATION </a:t>
            </a:r>
          </a:p>
          <a:p>
            <a:endParaRPr lang="en-US" b="1" dirty="0"/>
          </a:p>
        </p:txBody>
      </p:sp>
      <p:pic>
        <p:nvPicPr>
          <p:cNvPr id="2052" name="Picture 4" descr="Cross-Validation in Machine Learning: Enhancing Model Performance with  Confidence | by Shubham Sangole | Python in Plain English">
            <a:extLst>
              <a:ext uri="{FF2B5EF4-FFF2-40B4-BE49-F238E27FC236}">
                <a16:creationId xmlns:a16="http://schemas.microsoft.com/office/drawing/2014/main" id="{4E97ECB9-8D62-DD88-562E-CDB112CCBC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2866" r="-1" b="12212"/>
          <a:stretch>
            <a:fillRect/>
          </a:stretch>
        </p:blipFill>
        <p:spPr bwMode="auto">
          <a:xfrm>
            <a:off x="503337" y="2060848"/>
            <a:ext cx="10067971" cy="405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09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2FDE6-64C4-872C-AA8A-CA7C7343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42ECCF-4BC8-5293-677C-AD6066B69103}"/>
              </a:ext>
            </a:extLst>
          </p:cNvPr>
          <p:cNvSpPr txBox="1"/>
          <p:nvPr/>
        </p:nvSpPr>
        <p:spPr>
          <a:xfrm>
            <a:off x="21381" y="908720"/>
            <a:ext cx="107997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Randomized Search Cross Validation</a:t>
            </a:r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n_iter</a:t>
            </a:r>
            <a:r>
              <a:rPr lang="en-US" dirty="0"/>
              <a:t>= 25 ( picks 25 random hyperparameter combinations).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combination, run 5-fold stratified cross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 the average score of the 5 validations, save the score and discard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 the same procedure for 24 other hyperparameter combinations.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	     25 trials x 5 folds = </a:t>
            </a:r>
            <a:r>
              <a:rPr lang="en-US" b="1" dirty="0">
                <a:solidFill>
                  <a:srgbClr val="FF0000"/>
                </a:solidFill>
              </a:rPr>
              <a:t>125 model fits &lt; 900 models fits we had calculated earlier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performing parameters are selected (based on average validation score).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it on the entire training dataset and evaluate with the untouched test set. </a:t>
            </a:r>
          </a:p>
        </p:txBody>
      </p:sp>
    </p:spTree>
    <p:extLst>
      <p:ext uri="{BB962C8B-B14F-4D97-AF65-F5344CB8AC3E}">
        <p14:creationId xmlns:p14="http://schemas.microsoft.com/office/powerpoint/2010/main" val="384859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AC796-6254-CBFE-FFE0-C4FEB472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24C111-7515-850D-4AAD-D5611F163415}"/>
              </a:ext>
            </a:extLst>
          </p:cNvPr>
          <p:cNvSpPr txBox="1"/>
          <p:nvPr/>
        </p:nvSpPr>
        <p:spPr>
          <a:xfrm>
            <a:off x="-144375" y="908720"/>
            <a:ext cx="1079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Results and Evaluation metrics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81420-94AC-1290-44A0-DC6DFEE4BD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67"/>
          <a:stretch>
            <a:fillRect/>
          </a:stretch>
        </p:blipFill>
        <p:spPr>
          <a:xfrm>
            <a:off x="143297" y="1484784"/>
            <a:ext cx="5327874" cy="4647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8F8D59-BB99-20B6-F15E-AA9BA246048B}"/>
              </a:ext>
            </a:extLst>
          </p:cNvPr>
          <p:cNvSpPr txBox="1"/>
          <p:nvPr/>
        </p:nvSpPr>
        <p:spPr>
          <a:xfrm>
            <a:off x="6263977" y="2204864"/>
            <a:ext cx="380104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 Positive – 1724 </a:t>
            </a:r>
          </a:p>
          <a:p>
            <a:r>
              <a:rPr lang="en-US" dirty="0"/>
              <a:t>(Actual – Fraud, Predicted – Fraud)</a:t>
            </a:r>
          </a:p>
          <a:p>
            <a:endParaRPr lang="en-US" dirty="0"/>
          </a:p>
          <a:p>
            <a:r>
              <a:rPr lang="en-US" b="1" dirty="0"/>
              <a:t>True Negative – 22144 </a:t>
            </a:r>
          </a:p>
          <a:p>
            <a:r>
              <a:rPr lang="en-US" dirty="0"/>
              <a:t>(Actual – Valid, Predicted – Valid)</a:t>
            </a:r>
          </a:p>
          <a:p>
            <a:endParaRPr lang="en-IN" dirty="0"/>
          </a:p>
          <a:p>
            <a:r>
              <a:rPr lang="en-IN" b="1" dirty="0"/>
              <a:t>False Positive – 1232</a:t>
            </a:r>
          </a:p>
          <a:p>
            <a:r>
              <a:rPr lang="en-IN" dirty="0"/>
              <a:t>(Actual – Valid, Predicted – Fraud)</a:t>
            </a:r>
          </a:p>
          <a:p>
            <a:endParaRPr lang="en-IN" dirty="0"/>
          </a:p>
          <a:p>
            <a:r>
              <a:rPr lang="en-IN" b="1" dirty="0"/>
              <a:t>False Negative – 730</a:t>
            </a:r>
          </a:p>
          <a:p>
            <a:r>
              <a:rPr lang="en-IN" dirty="0"/>
              <a:t>(Actual – Fraud, Predicted – Valid)</a:t>
            </a:r>
          </a:p>
        </p:txBody>
      </p:sp>
    </p:spTree>
    <p:extLst>
      <p:ext uri="{BB962C8B-B14F-4D97-AF65-F5344CB8AC3E}">
        <p14:creationId xmlns:p14="http://schemas.microsoft.com/office/powerpoint/2010/main" val="172208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098B-2BE2-B38A-5627-2EDF4797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92E8A2-7074-1F41-0354-736649EF2D6F}"/>
              </a:ext>
            </a:extLst>
          </p:cNvPr>
          <p:cNvSpPr txBox="1"/>
          <p:nvPr/>
        </p:nvSpPr>
        <p:spPr>
          <a:xfrm>
            <a:off x="-144375" y="836712"/>
            <a:ext cx="1079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       Results and Evaluation metrics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B6933-2B7D-4A28-9BF4-D34FD6858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01" y="1268760"/>
            <a:ext cx="8292216" cy="51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7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2BB99-F33E-C21F-BC0E-C9717478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45EBB2-7E35-7536-C045-E50F9010F8EA}"/>
              </a:ext>
            </a:extLst>
          </p:cNvPr>
          <p:cNvSpPr txBox="1"/>
          <p:nvPr/>
        </p:nvSpPr>
        <p:spPr>
          <a:xfrm>
            <a:off x="2826003" y="908720"/>
            <a:ext cx="5536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Threshold Tuning — A Business-Driven Decision</a:t>
            </a: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D7DFF3-E322-1514-4EDF-93D08DB63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908213"/>
              </p:ext>
            </p:extLst>
          </p:nvPr>
        </p:nvGraphicFramePr>
        <p:xfrm>
          <a:off x="1943497" y="2069932"/>
          <a:ext cx="7488832" cy="138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6504">
                  <a:extLst>
                    <a:ext uri="{9D8B030D-6E8A-4147-A177-3AD203B41FA5}">
                      <a16:colId xmlns:a16="http://schemas.microsoft.com/office/drawing/2014/main" val="35374466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335958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Error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Business Impact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666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Missing a fraud ( False Negative)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₹40,000 average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168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Investigating a valid transaction (False Positive)</a:t>
                      </a:r>
                      <a:endParaRPr lang="en-IN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₹4,000 investigation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4649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CA2C7F-9198-4CD4-8CDA-4AE80699D0CF}"/>
              </a:ext>
            </a:extLst>
          </p:cNvPr>
          <p:cNvSpPr txBox="1"/>
          <p:nvPr/>
        </p:nvSpPr>
        <p:spPr>
          <a:xfrm>
            <a:off x="71289" y="206993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4323DF-3CDE-A844-0CAF-019AE9887C9B}"/>
              </a:ext>
            </a:extLst>
          </p:cNvPr>
          <p:cNvSpPr txBox="1"/>
          <p:nvPr/>
        </p:nvSpPr>
        <p:spPr>
          <a:xfrm>
            <a:off x="3441652" y="3664858"/>
            <a:ext cx="391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Cost Ratio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40,000</a:t>
            </a:r>
            <a:r>
              <a:rPr lang="en-US" dirty="0"/>
              <a:t> : </a:t>
            </a:r>
            <a:r>
              <a:rPr lang="en-US" b="1" dirty="0">
                <a:solidFill>
                  <a:srgbClr val="0070C0"/>
                </a:solidFill>
              </a:rPr>
              <a:t>4,000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10</a:t>
            </a:r>
            <a:r>
              <a:rPr lang="en-US" dirty="0"/>
              <a:t> </a:t>
            </a:r>
            <a:r>
              <a:rPr lang="en-US" b="1" dirty="0"/>
              <a:t>: </a:t>
            </a:r>
            <a:r>
              <a:rPr lang="en-US" b="1" dirty="0">
                <a:solidFill>
                  <a:srgbClr val="0070C0"/>
                </a:solidFill>
              </a:rPr>
              <a:t>1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EE181-08B1-EA74-EBCA-7C310FB15250}"/>
              </a:ext>
            </a:extLst>
          </p:cNvPr>
          <p:cNvSpPr txBox="1"/>
          <p:nvPr/>
        </p:nvSpPr>
        <p:spPr>
          <a:xfrm>
            <a:off x="215305" y="4509120"/>
            <a:ext cx="83086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Missing a fraud is 10 times more expensive than checking a valid transaction.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Therefore, Businesses prefer </a:t>
            </a:r>
            <a:r>
              <a:rPr lang="en-US" b="1" dirty="0"/>
              <a:t>HIGHER RECALL.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7732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1E12D-DB86-7EF1-B6A6-838E70175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3A538B-2866-688C-41CA-F05E498F34E5}"/>
              </a:ext>
            </a:extLst>
          </p:cNvPr>
          <p:cNvSpPr txBox="1"/>
          <p:nvPr/>
        </p:nvSpPr>
        <p:spPr>
          <a:xfrm>
            <a:off x="2826003" y="908720"/>
            <a:ext cx="5536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Threshold Tuning — A Business-Driven Decision</a:t>
            </a: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7D6513-375B-3C33-57AC-B61ACDB46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988464"/>
              </p:ext>
            </p:extLst>
          </p:nvPr>
        </p:nvGraphicFramePr>
        <p:xfrm>
          <a:off x="1535096" y="2132856"/>
          <a:ext cx="7488832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5128">
                  <a:extLst>
                    <a:ext uri="{9D8B030D-6E8A-4147-A177-3AD203B41FA5}">
                      <a16:colId xmlns:a16="http://schemas.microsoft.com/office/drawing/2014/main" val="353744661"/>
                    </a:ext>
                  </a:extLst>
                </a:gridCol>
                <a:gridCol w="2825128">
                  <a:extLst>
                    <a:ext uri="{9D8B030D-6E8A-4147-A177-3AD203B41FA5}">
                      <a16:colId xmlns:a16="http://schemas.microsoft.com/office/drawing/2014/main" val="3556401861"/>
                    </a:ext>
                  </a:extLst>
                </a:gridCol>
                <a:gridCol w="1838576">
                  <a:extLst>
                    <a:ext uri="{9D8B030D-6E8A-4147-A177-3AD203B41FA5}">
                      <a16:colId xmlns:a16="http://schemas.microsoft.com/office/drawing/2014/main" val="2335958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Very Low thresholds</a:t>
                      </a:r>
                    </a:p>
                    <a:p>
                      <a:pPr algn="ctr"/>
                      <a:r>
                        <a:rPr lang="en-US" b="1" dirty="0"/>
                        <a:t>( 0.1 – 0.3)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Mid-Range Thresholds (0.35 – 0.6)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Very High Thresholds (0.65 – 0.95)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666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Marked everything as fraud 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Accuracy – 10 %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Model catches most of the fraud.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Accuracy – 84 – 93%</a:t>
                      </a:r>
                      <a:endParaRPr lang="en-IN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Missed almost every fraud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16825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FB9D116-9C5C-A7EC-136B-CF0482136F70}"/>
              </a:ext>
            </a:extLst>
          </p:cNvPr>
          <p:cNvSpPr txBox="1"/>
          <p:nvPr/>
        </p:nvSpPr>
        <p:spPr>
          <a:xfrm>
            <a:off x="2735585" y="4365104"/>
            <a:ext cx="5557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Mid-Range thresholds maximize business value.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2804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FD479A-567E-4F8B-5E6E-786199B56B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57" y="1340768"/>
            <a:ext cx="9433048" cy="52141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AB8101-F46F-3C81-25FC-FB00847FB525}"/>
              </a:ext>
            </a:extLst>
          </p:cNvPr>
          <p:cNvSpPr txBox="1"/>
          <p:nvPr/>
        </p:nvSpPr>
        <p:spPr>
          <a:xfrm>
            <a:off x="3743697" y="83671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User Interface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66728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5390B3-742E-DA98-7BA5-DF7E76129F19}"/>
              </a:ext>
            </a:extLst>
          </p:cNvPr>
          <p:cNvSpPr txBox="1"/>
          <p:nvPr/>
        </p:nvSpPr>
        <p:spPr>
          <a:xfrm>
            <a:off x="287313" y="2348880"/>
            <a:ext cx="554190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GitHub Repo – </a:t>
            </a:r>
            <a:r>
              <a:rPr lang="en-US" dirty="0"/>
              <a:t>Complete project code</a:t>
            </a:r>
          </a:p>
          <a:p>
            <a:r>
              <a:rPr lang="en-US" dirty="0"/>
              <a:t> </a:t>
            </a:r>
            <a:r>
              <a:rPr lang="en-IN" dirty="0"/>
              <a:t>🔗 </a:t>
            </a:r>
            <a:r>
              <a:rPr lang="en-US" b="1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/SUHAAS_D</a:t>
            </a:r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b="1" dirty="0"/>
              <a:t>GitHub Project Commits </a:t>
            </a:r>
            <a:r>
              <a:rPr lang="en-US" dirty="0"/>
              <a:t>– Full Commit History</a:t>
            </a:r>
          </a:p>
          <a:p>
            <a:endParaRPr lang="en-US" dirty="0"/>
          </a:p>
          <a:p>
            <a:r>
              <a:rPr lang="en-IN" dirty="0"/>
              <a:t>🔗 </a:t>
            </a:r>
            <a:r>
              <a:rPr lang="en-US" b="1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/SUHAAS_D/</a:t>
            </a:r>
            <a:r>
              <a:rPr lang="en-US" b="1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fraud_detection_commits</a:t>
            </a:r>
            <a:r>
              <a:rPr lang="en-US" b="1" dirty="0"/>
              <a:t> 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7A64D-559B-30D1-67FD-0B872897D4D3}"/>
              </a:ext>
            </a:extLst>
          </p:cNvPr>
          <p:cNvSpPr txBox="1"/>
          <p:nvPr/>
        </p:nvSpPr>
        <p:spPr>
          <a:xfrm>
            <a:off x="3455665" y="908720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Project Repository &amp;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75803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935385" y="1484784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2A7A5D-CDDA-0AD7-9722-9B33E75EF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321" y="1271356"/>
            <a:ext cx="964835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Hajek, P., Abedin, M.Z., &amp; Sivarajah, U. (2023). Fraud Detection in Mobile Payment Systems using 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Framework. Information Systems Frontiers, 25, 1985–2003.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[2].Nagarajan, P., &amp; Kamali, B. (2024). Fraud Detection in Online Transactions using Hybrid CNN and XGBOOST. Proceedings of the 2024 International Conference on Emerging Research in Computational Science.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[3].Negi, A., &amp; Kumar, D. (2025). Fraud Detection in Financial Transactions Using Machine Learning Techniques. Proceedings of the 2025 International Conference on Networks and Cryptology.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[4]Chen, H., &amp; Chen, L. (2022). An application of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for online transaction fraud detection based on an improved sailfish optimiser. Proceedings of the 4th International Conference on Machine Learning, Big Data and Business Intelligence.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35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5539" y="1982450"/>
            <a:ext cx="7148684" cy="144655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9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659E80-0AC6-5173-70C2-B0AB3568E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457" y="836712"/>
            <a:ext cx="7329267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0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26E233F407094A841188C68213AD4A" ma:contentTypeVersion="5" ma:contentTypeDescription="Create a new document." ma:contentTypeScope="" ma:versionID="cfc93cc6e011a1a762b03d0b62e2d30d">
  <xsd:schema xmlns:xsd="http://www.w3.org/2001/XMLSchema" xmlns:xs="http://www.w3.org/2001/XMLSchema" xmlns:p="http://schemas.microsoft.com/office/2006/metadata/properties" xmlns:ns3="ba334524-d727-4c5a-bdc1-da5eba0b575b" targetNamespace="http://schemas.microsoft.com/office/2006/metadata/properties" ma:root="true" ma:fieldsID="ac392ff289032b3956329f9fcea9d69f" ns3:_="">
    <xsd:import namespace="ba334524-d727-4c5a-bdc1-da5eba0b575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334524-d727-4c5a-bdc1-da5eba0b575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334524-d727-4c5a-bdc1-da5eba0b575b" xsi:nil="true"/>
  </documentManagement>
</p:properties>
</file>

<file path=customXml/itemProps1.xml><?xml version="1.0" encoding="utf-8"?>
<ds:datastoreItem xmlns:ds="http://schemas.openxmlformats.org/officeDocument/2006/customXml" ds:itemID="{8D905070-730B-4274-977F-704271E834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334524-d727-4c5a-bdc1-da5eba0b57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E627DA-6636-406E-84DF-8DF4EA8841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D838A1-3EFA-46A1-A87C-BD96666019A5}">
  <ds:schemaRefs>
    <ds:schemaRef ds:uri="http://purl.org/dc/elements/1.1/"/>
    <ds:schemaRef ds:uri="http://schemas.microsoft.com/office/2006/documentManagement/types"/>
    <ds:schemaRef ds:uri="ba334524-d727-4c5a-bdc1-da5eba0b575b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23386</TotalTime>
  <Words>2418</Words>
  <Application>Microsoft Office PowerPoint</Application>
  <PresentationFormat>Custom</PresentationFormat>
  <Paragraphs>527</Paragraphs>
  <Slides>42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Cambria Math</vt:lpstr>
      <vt:lpstr>Sabon LT Std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MAHE</dc:creator>
  <cp:lastModifiedBy>SUHAAS D - 251100610033 - MSISMPL</cp:lastModifiedBy>
  <cp:revision>976</cp:revision>
  <dcterms:created xsi:type="dcterms:W3CDTF">2007-08-14T09:37:21Z</dcterms:created>
  <dcterms:modified xsi:type="dcterms:W3CDTF">2025-11-17T16:03:28Z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0x0101002826E233F407094A841188C68213AD4A</vt:lpwstr>
  </property>
</Properties>
</file>